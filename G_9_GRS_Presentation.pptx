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33" Type="http://schemas.openxmlformats.org/officeDocument/2006/relationships/font" Target="fonts/Lato-italic.fntdata"/><Relationship Id="rId10" Type="http://schemas.openxmlformats.org/officeDocument/2006/relationships/slide" Target="slides/slide5.xml"/><Relationship Id="rId32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La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ffe64f98c_9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ffe64f98c_9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ffe64f98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ffe64f98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ffe64f98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ffe64f98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ffe64f98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dffe64f98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ffe64f98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dffe64f98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ffe64f98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dffe64f98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ffe64f98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dffe64f98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ffe64f98c_9_17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dffe64f98c_9_17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ffe64f98c_9_20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dffe64f98c_9_2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ffe64f98c_9_2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ffe64f98c_9_2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dffe64f98c_133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dffe64f98c_133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dffe64f98c_133_7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dffe64f98c_133_7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dffe64f98c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dffe64f98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dffe64f98c_133_16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dffe64f98c_133_1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dffe64f98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dffe64f98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ffe64f98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dffe64f98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dffe64f98c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dffe64f98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dffe64f98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dffe64f98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dffe64f98c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dffe64f98c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dffe64f98c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dffe64f98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ffe64f98c_33_0)">
  <p:cSld name="Title and body (g3dffe64f98c_33_0)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ffe64f98c_43_0)">
  <p:cSld name="Title and body (g3dffe64f98c_43_0)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88" name="Google Shape;88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ffe64f98c_57_0)">
  <p:cSld name="Title and body (g3dffe64f98c_57_0)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2" name="Google Shape;92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ffe64f98c_64_0)">
  <p:cSld name="Title and body (g3dffe64f98c_64_0)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6" name="Google Shape;9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ffe64f98c_71_0)">
  <p:cSld name="Title and body (g3dffe64f98c_71_0)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ffe64f98c_103_0)">
  <p:cSld name="Title and body (g3dffe64f98c_103_0)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ffe64f98c_188_0)">
  <p:cSld name="Title and body (g3dffe64f98c_188_0)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ffe64f98c_206_0)">
  <p:cSld name="Title and body (g3dffe64f98c_206_0)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ffe64f98c_217_0)">
  <p:cSld name="Title and body (g3dffe64f98c_217_0)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ffe64f98c_224_0)">
  <p:cSld name="Title and body (g3dffe64f98c_224_0)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ffe64f98c_238_0)">
  <p:cSld name="Title and body (g3dffe64f98c_238_0)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5" name="Google Shape;125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7.png"/><Relationship Id="rId5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Understanding Tail Latency in Kubernetes Microservices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Tech: Kubernetes + eBPF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4"/>
          <p:cNvSpPr txBox="1"/>
          <p:nvPr>
            <p:ph idx="1" type="subTitle"/>
          </p:nvPr>
        </p:nvSpPr>
        <p:spPr>
          <a:xfrm>
            <a:off x="727950" y="3634950"/>
            <a:ext cx="76881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Rajat Kumar Srivastava	- M.Tech CSE   	(MT25078)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Harsha Verma	       		</a:t>
            </a: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- M.Tech CSE </a:t>
            </a: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  	(MT25024)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Anurag Sharma               	</a:t>
            </a: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- M.Tech CSE   	</a:t>
            </a: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(MT25063)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4"/>
          <p:cNvSpPr txBox="1"/>
          <p:nvPr>
            <p:ph idx="1" type="subTitle"/>
          </p:nvPr>
        </p:nvSpPr>
        <p:spPr>
          <a:xfrm>
            <a:off x="727952" y="309375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TEAM GROUP: 9 | GRS Project | CSE-638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2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39" name="Google Shape;139;p2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" name="Google Shape;141;p25"/>
          <p:cNvSpPr txBox="1"/>
          <p:nvPr>
            <p:ph type="title"/>
          </p:nvPr>
        </p:nvSpPr>
        <p:spPr>
          <a:xfrm>
            <a:off x="723900" y="666750"/>
            <a:ext cx="76887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Problem</a:t>
            </a:r>
            <a:endParaRPr b="1" sz="360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2" name="Google Shape;142;p25"/>
          <p:cNvGrpSpPr/>
          <p:nvPr/>
        </p:nvGrpSpPr>
        <p:grpSpPr>
          <a:xfrm>
            <a:off x="723889" y="1333626"/>
            <a:ext cx="7979283" cy="2762060"/>
            <a:chOff x="723900" y="1524000"/>
            <a:chExt cx="7429500" cy="2571750"/>
          </a:xfrm>
        </p:grpSpPr>
        <p:sp>
          <p:nvSpPr>
            <p:cNvPr id="143" name="Google Shape;143;p25"/>
            <p:cNvSpPr/>
            <p:nvPr/>
          </p:nvSpPr>
          <p:spPr>
            <a:xfrm>
              <a:off x="723900" y="1524000"/>
              <a:ext cx="3619500" cy="1238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5"/>
            <p:cNvSpPr txBox="1"/>
            <p:nvPr/>
          </p:nvSpPr>
          <p:spPr>
            <a:xfrm>
              <a:off x="892498" y="1762023"/>
              <a:ext cx="3282300" cy="109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4">
                  <a:solidFill>
                    <a:srgbClr val="EB56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Unexpected Latency Spikes</a:t>
              </a:r>
              <a:endParaRPr b="1" sz="1504">
                <a:solidFill>
                  <a:srgbClr val="EB56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44"/>
                </a:spcBef>
                <a:spcAft>
                  <a:spcPts val="0"/>
                </a:spcAft>
                <a:buNone/>
              </a:pPr>
              <a:r>
                <a:rPr lang="en" sz="1289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Some requests take 300–500 ms even when system metrics appear healthy.</a:t>
              </a:r>
              <a:endParaRPr sz="1289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44"/>
                </a:spcBef>
                <a:spcAft>
                  <a:spcPts val="0"/>
                </a:spcAft>
                <a:buNone/>
              </a:pPr>
              <a:r>
                <a:t/>
              </a:r>
              <a:endParaRPr sz="1289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" name="Google Shape;145;p25"/>
            <p:cNvSpPr/>
            <p:nvPr/>
          </p:nvSpPr>
          <p:spPr>
            <a:xfrm>
              <a:off x="4533900" y="1524000"/>
              <a:ext cx="3619500" cy="1238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5"/>
            <p:cNvSpPr txBox="1"/>
            <p:nvPr/>
          </p:nvSpPr>
          <p:spPr>
            <a:xfrm>
              <a:off x="4533897" y="1666876"/>
              <a:ext cx="3429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4">
                  <a:solidFill>
                    <a:srgbClr val="1A998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Metric Blind Spots</a:t>
              </a:r>
              <a:endParaRPr b="1" sz="1504">
                <a:solidFill>
                  <a:srgbClr val="1A9988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20540" lvl="0" marL="491040" rtl="0" algn="l"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181"/>
                <a:buFont typeface="Times New Roman"/>
                <a:buChar char="●"/>
              </a:pPr>
              <a:r>
                <a:rPr lang="en" sz="1181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CPU utilization is normal</a:t>
              </a:r>
              <a:endParaRPr sz="118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20540" lvl="0" marL="491040" rtl="0" algn="l">
                <a:spcBef>
                  <a:spcPts val="322"/>
                </a:spcBef>
                <a:spcAft>
                  <a:spcPts val="0"/>
                </a:spcAft>
                <a:buClr>
                  <a:srgbClr val="595959"/>
                </a:buClr>
                <a:buSzPts val="1181"/>
                <a:buFont typeface="Times New Roman"/>
                <a:buChar char="●"/>
              </a:pPr>
              <a:r>
                <a:rPr lang="en" sz="1181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Memory usage is fine</a:t>
              </a:r>
              <a:endParaRPr sz="118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20540" lvl="0" marL="491040" rtl="0" algn="l">
                <a:spcBef>
                  <a:spcPts val="322"/>
                </a:spcBef>
                <a:spcAft>
                  <a:spcPts val="0"/>
                </a:spcAft>
                <a:buClr>
                  <a:srgbClr val="595959"/>
                </a:buClr>
                <a:buSzPts val="1181"/>
                <a:buFont typeface="Times New Roman"/>
                <a:buChar char="●"/>
              </a:pPr>
              <a:r>
                <a:rPr lang="en" sz="1181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 application errors visible</a:t>
              </a:r>
              <a:endParaRPr sz="118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" name="Google Shape;147;p25"/>
            <p:cNvSpPr/>
            <p:nvPr/>
          </p:nvSpPr>
          <p:spPr>
            <a:xfrm>
              <a:off x="723900" y="2952750"/>
              <a:ext cx="7429500" cy="1143000"/>
            </a:xfrm>
            <a:prstGeom prst="roundRect">
              <a:avLst>
                <a:gd fmla="val 6666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4"/>
            </a:p>
          </p:txBody>
        </p:sp>
        <p:sp>
          <p:nvSpPr>
            <p:cNvPr id="148" name="Google Shape;148;p25"/>
            <p:cNvSpPr txBox="1"/>
            <p:nvPr/>
          </p:nvSpPr>
          <p:spPr>
            <a:xfrm>
              <a:off x="1009650" y="3095625"/>
              <a:ext cx="6858000" cy="857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33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Core Question</a:t>
              </a:r>
              <a:endParaRPr b="1" sz="193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403"/>
                </a:spcBef>
                <a:spcAft>
                  <a:spcPts val="0"/>
                </a:spcAft>
                <a:buNone/>
              </a:pPr>
              <a:r>
                <a:rPr i="1" lang="en" sz="1504">
                  <a:solidFill>
                    <a:srgbClr val="EB56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Why does p99 spike when nothing looks wrong?</a:t>
              </a:r>
              <a:endParaRPr i="1" sz="1504">
                <a:solidFill>
                  <a:srgbClr val="EB56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49" name="Google Shape;149;p25"/>
          <p:cNvGrpSpPr/>
          <p:nvPr/>
        </p:nvGrpSpPr>
        <p:grpSpPr>
          <a:xfrm>
            <a:off x="6953250" y="571500"/>
            <a:ext cx="1428900" cy="820420"/>
            <a:chOff x="6953250" y="571500"/>
            <a:chExt cx="1428900" cy="820420"/>
          </a:xfrm>
        </p:grpSpPr>
        <p:sp>
          <p:nvSpPr>
            <p:cNvPr id="150" name="Google Shape;150;p25"/>
            <p:cNvSpPr/>
            <p:nvPr/>
          </p:nvSpPr>
          <p:spPr>
            <a:xfrm>
              <a:off x="6953250" y="571500"/>
              <a:ext cx="14289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5"/>
            <p:cNvSpPr txBox="1"/>
            <p:nvPr/>
          </p:nvSpPr>
          <p:spPr>
            <a:xfrm>
              <a:off x="6953250" y="629920"/>
              <a:ext cx="1428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0">
                  <a:solidFill>
                    <a:srgbClr val="EB56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sz="4000">
                <a:solidFill>
                  <a:srgbClr val="EB56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26"/>
          <p:cNvGrpSpPr/>
          <p:nvPr/>
        </p:nvGrpSpPr>
        <p:grpSpPr>
          <a:xfrm>
            <a:off x="0" y="0"/>
            <a:ext cx="9144000" cy="1238250"/>
            <a:chOff x="0" y="0"/>
            <a:chExt cx="9144000" cy="1238250"/>
          </a:xfrm>
        </p:grpSpPr>
        <p:sp>
          <p:nvSpPr>
            <p:cNvPr id="157" name="Google Shape;157;p26"/>
            <p:cNvSpPr/>
            <p:nvPr/>
          </p:nvSpPr>
          <p:spPr>
            <a:xfrm>
              <a:off x="0" y="0"/>
              <a:ext cx="9144000" cy="49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8" name="Google Shape;158;p26"/>
            <p:cNvGrpSpPr/>
            <p:nvPr/>
          </p:nvGrpSpPr>
          <p:grpSpPr>
            <a:xfrm>
              <a:off x="990600" y="114300"/>
              <a:ext cx="762000" cy="47700"/>
              <a:chOff x="0" y="0"/>
              <a:chExt cx="762000" cy="47700"/>
            </a:xfrm>
          </p:grpSpPr>
          <p:sp>
            <p:nvSpPr>
              <p:cNvPr id="159" name="Google Shape;159;p26"/>
              <p:cNvSpPr/>
              <p:nvPr/>
            </p:nvSpPr>
            <p:spPr>
              <a:xfrm>
                <a:off x="0" y="0"/>
                <a:ext cx="381000" cy="47700"/>
              </a:xfrm>
              <a:prstGeom prst="rect">
                <a:avLst/>
              </a:prstGeom>
              <a:solidFill>
                <a:srgbClr val="1A998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26"/>
              <p:cNvSpPr/>
              <p:nvPr/>
            </p:nvSpPr>
            <p:spPr>
              <a:xfrm>
                <a:off x="381000" y="0"/>
                <a:ext cx="381000" cy="47700"/>
              </a:xfrm>
              <a:prstGeom prst="rect">
                <a:avLst/>
              </a:prstGeom>
              <a:solidFill>
                <a:srgbClr val="EB56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1" name="Google Shape;161;p26"/>
            <p:cNvSpPr txBox="1"/>
            <p:nvPr/>
          </p:nvSpPr>
          <p:spPr>
            <a:xfrm>
              <a:off x="723900" y="666750"/>
              <a:ext cx="7686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Why eBPF?</a:t>
              </a:r>
              <a:endParaRPr b="1" sz="3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2" name="Google Shape;162;p26"/>
          <p:cNvGrpSpPr/>
          <p:nvPr/>
        </p:nvGrpSpPr>
        <p:grpSpPr>
          <a:xfrm>
            <a:off x="723900" y="1333500"/>
            <a:ext cx="7981950" cy="1428900"/>
            <a:chOff x="723900" y="1333500"/>
            <a:chExt cx="7981950" cy="1428900"/>
          </a:xfrm>
        </p:grpSpPr>
        <p:sp>
          <p:nvSpPr>
            <p:cNvPr id="163" name="Google Shape;163;p26"/>
            <p:cNvSpPr/>
            <p:nvPr/>
          </p:nvSpPr>
          <p:spPr>
            <a:xfrm>
              <a:off x="723900" y="1333500"/>
              <a:ext cx="3886200" cy="14289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6"/>
            <p:cNvSpPr txBox="1"/>
            <p:nvPr/>
          </p:nvSpPr>
          <p:spPr>
            <a:xfrm>
              <a:off x="914400" y="1476375"/>
              <a:ext cx="3505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EB56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Kubernetes Gap</a:t>
              </a:r>
              <a:endParaRPr b="1" sz="1500">
                <a:solidFill>
                  <a:srgbClr val="EB56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Kubernetes abstracts away the kernel, hiding the low-level behavior that drives tail latency.</a:t>
              </a:r>
              <a:endParaRPr b="0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" name="Google Shape;165;p26"/>
            <p:cNvSpPr/>
            <p:nvPr/>
          </p:nvSpPr>
          <p:spPr>
            <a:xfrm>
              <a:off x="4819650" y="1333500"/>
              <a:ext cx="3886200" cy="14289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6"/>
            <p:cNvSpPr txBox="1"/>
            <p:nvPr/>
          </p:nvSpPr>
          <p:spPr>
            <a:xfrm>
              <a:off x="5010150" y="1476375"/>
              <a:ext cx="3505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1A998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Tail Latency Culprits</a:t>
              </a:r>
              <a:endParaRPr b="1" sz="1500">
                <a:solidFill>
                  <a:srgbClr val="1A9988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595959"/>
                </a:buClr>
                <a:buSzPts val="1100"/>
                <a:buFont typeface="Times New Roman"/>
                <a:buChar char="●"/>
              </a:pPr>
              <a:r>
                <a:rPr b="0" lang="en" sz="11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CPU scheduling delays</a:t>
              </a:r>
              <a:endParaRPr b="0" sz="11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84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595959"/>
                </a:buClr>
                <a:buSzPts val="1100"/>
                <a:buFont typeface="Times New Roman"/>
                <a:buChar char="●"/>
              </a:pPr>
              <a:r>
                <a:rPr b="0" lang="en" sz="11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Network stack bottlenecks</a:t>
              </a:r>
              <a:endParaRPr b="0" sz="11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84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595959"/>
                </a:buClr>
                <a:buSzPts val="1100"/>
                <a:buFont typeface="Times New Roman"/>
                <a:buChar char="●"/>
              </a:pPr>
              <a:r>
                <a:rPr b="0" lang="en" sz="11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Kernel-level resource contention</a:t>
              </a:r>
              <a:endParaRPr b="0" sz="11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7" name="Google Shape;167;p26"/>
          <p:cNvGrpSpPr/>
          <p:nvPr/>
        </p:nvGrpSpPr>
        <p:grpSpPr>
          <a:xfrm>
            <a:off x="723900" y="2952750"/>
            <a:ext cx="7982100" cy="1524000"/>
            <a:chOff x="723900" y="2952750"/>
            <a:chExt cx="7982100" cy="1524000"/>
          </a:xfrm>
        </p:grpSpPr>
        <p:sp>
          <p:nvSpPr>
            <p:cNvPr id="168" name="Google Shape;168;p26"/>
            <p:cNvSpPr/>
            <p:nvPr/>
          </p:nvSpPr>
          <p:spPr>
            <a:xfrm>
              <a:off x="723900" y="2952750"/>
              <a:ext cx="7982100" cy="1524000"/>
            </a:xfrm>
            <a:prstGeom prst="roundRect">
              <a:avLst>
                <a:gd fmla="val 6250" name="adj"/>
              </a:avLst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6"/>
            <p:cNvSpPr txBox="1"/>
            <p:nvPr/>
          </p:nvSpPr>
          <p:spPr>
            <a:xfrm>
              <a:off x="1009650" y="3095625"/>
              <a:ext cx="74106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eBPF Solution</a:t>
              </a:r>
              <a:endParaRPr b="1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Linux kernel feature that runs lightweight observability programs directly inside the kernel at runtime.</a:t>
              </a:r>
              <a:endParaRPr b="0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i="1" lang="en" sz="1300">
                  <a:solidFill>
                    <a:srgbClr val="EB56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eBPF instruments the kernel beneath the pod, revealing causes of p99 violations that Kubernetes metrics miss.</a:t>
              </a:r>
              <a:endParaRPr b="1" i="1" sz="1300">
                <a:solidFill>
                  <a:srgbClr val="EB56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70" name="Google Shape;170;p26"/>
          <p:cNvSpPr txBox="1"/>
          <p:nvPr/>
        </p:nvSpPr>
        <p:spPr>
          <a:xfrm>
            <a:off x="7620000" y="677545"/>
            <a:ext cx="57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rgbClr val="EB5600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visibility</a:t>
            </a:r>
            <a:endParaRPr sz="3700">
              <a:solidFill>
                <a:srgbClr val="EB5600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/>
          <p:nvPr/>
        </p:nvSpPr>
        <p:spPr>
          <a:xfrm>
            <a:off x="0" y="0"/>
            <a:ext cx="9144000" cy="49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6" name="Google Shape;176;p27"/>
          <p:cNvGrpSpPr/>
          <p:nvPr/>
        </p:nvGrpSpPr>
        <p:grpSpPr>
          <a:xfrm>
            <a:off x="990600" y="114300"/>
            <a:ext cx="762000" cy="47700"/>
            <a:chOff x="990600" y="114300"/>
            <a:chExt cx="762000" cy="47700"/>
          </a:xfrm>
        </p:grpSpPr>
        <p:sp>
          <p:nvSpPr>
            <p:cNvPr id="177" name="Google Shape;177;p27"/>
            <p:cNvSpPr/>
            <p:nvPr/>
          </p:nvSpPr>
          <p:spPr>
            <a:xfrm>
              <a:off x="990600" y="114300"/>
              <a:ext cx="381000" cy="477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7"/>
            <p:cNvSpPr/>
            <p:nvPr/>
          </p:nvSpPr>
          <p:spPr>
            <a:xfrm>
              <a:off x="1371600" y="114300"/>
              <a:ext cx="381000" cy="477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" name="Google Shape;179;p27"/>
          <p:cNvGrpSpPr/>
          <p:nvPr/>
        </p:nvGrpSpPr>
        <p:grpSpPr>
          <a:xfrm>
            <a:off x="723900" y="571500"/>
            <a:ext cx="7620000" cy="905025"/>
            <a:chOff x="723900" y="571500"/>
            <a:chExt cx="7620000" cy="905025"/>
          </a:xfrm>
        </p:grpSpPr>
        <p:sp>
          <p:nvSpPr>
            <p:cNvPr id="180" name="Google Shape;180;p27"/>
            <p:cNvSpPr txBox="1"/>
            <p:nvPr/>
          </p:nvSpPr>
          <p:spPr>
            <a:xfrm>
              <a:off x="723900" y="571500"/>
              <a:ext cx="666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System Setup</a:t>
              </a:r>
              <a:endParaRPr b="1" sz="3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1" name="Google Shape;181;p27"/>
            <p:cNvSpPr txBox="1"/>
            <p:nvPr/>
          </p:nvSpPr>
          <p:spPr>
            <a:xfrm>
              <a:off x="723900" y="1190625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Evaluating configurations to analyze kernel-level resource contention.</a:t>
              </a:r>
              <a:endParaRPr b="0" sz="14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82" name="Google Shape;182;p27"/>
          <p:cNvSpPr txBox="1"/>
          <p:nvPr/>
        </p:nvSpPr>
        <p:spPr>
          <a:xfrm>
            <a:off x="7810500" y="677545"/>
            <a:ext cx="57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rgbClr val="EB5600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settings</a:t>
            </a:r>
            <a:endParaRPr sz="3700">
              <a:solidFill>
                <a:srgbClr val="EB5600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grpSp>
        <p:nvGrpSpPr>
          <p:cNvPr id="183" name="Google Shape;183;p27"/>
          <p:cNvGrpSpPr/>
          <p:nvPr/>
        </p:nvGrpSpPr>
        <p:grpSpPr>
          <a:xfrm>
            <a:off x="723900" y="1619250"/>
            <a:ext cx="3810000" cy="2286000"/>
            <a:chOff x="723900" y="1619250"/>
            <a:chExt cx="3810000" cy="2286000"/>
          </a:xfrm>
        </p:grpSpPr>
        <p:sp>
          <p:nvSpPr>
            <p:cNvPr id="184" name="Google Shape;184;p27"/>
            <p:cNvSpPr/>
            <p:nvPr/>
          </p:nvSpPr>
          <p:spPr>
            <a:xfrm>
              <a:off x="723900" y="1619250"/>
              <a:ext cx="38100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7"/>
            <p:cNvSpPr/>
            <p:nvPr/>
          </p:nvSpPr>
          <p:spPr>
            <a:xfrm>
              <a:off x="723900" y="1619250"/>
              <a:ext cx="3810000" cy="38100"/>
            </a:xfrm>
            <a:prstGeom prst="roundRect">
              <a:avLst>
                <a:gd fmla="val 5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7"/>
            <p:cNvSpPr txBox="1"/>
            <p:nvPr/>
          </p:nvSpPr>
          <p:spPr>
            <a:xfrm>
              <a:off x="914400" y="1762125"/>
              <a:ext cx="34290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1A998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1. Single-node Setup</a:t>
              </a:r>
              <a:endParaRPr b="1" sz="1800">
                <a:solidFill>
                  <a:srgbClr val="1A9988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Multiple pods running on a single compute resource.</a:t>
              </a:r>
              <a:endParaRPr b="0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84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595959"/>
                </a:buClr>
                <a:buSzPts val="1100"/>
                <a:buFont typeface="Times New Roman"/>
                <a:buChar char="●"/>
              </a:pPr>
              <a:r>
                <a:rPr lang="en" sz="11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All services localized to one node.</a:t>
              </a:r>
              <a:endParaRPr sz="11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595959"/>
                </a:buClr>
                <a:buSzPts val="1100"/>
                <a:buFont typeface="Times New Roman"/>
                <a:buChar char="●"/>
              </a:pPr>
              <a:r>
                <a:rPr lang="en" sz="11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Designed to study local contention effects.</a:t>
              </a:r>
              <a:endParaRPr sz="11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7" name="Google Shape;187;p27"/>
          <p:cNvGrpSpPr/>
          <p:nvPr/>
        </p:nvGrpSpPr>
        <p:grpSpPr>
          <a:xfrm>
            <a:off x="4610100" y="1619250"/>
            <a:ext cx="3810000" cy="2286000"/>
            <a:chOff x="4610100" y="1619250"/>
            <a:chExt cx="3810000" cy="2286000"/>
          </a:xfrm>
        </p:grpSpPr>
        <p:sp>
          <p:nvSpPr>
            <p:cNvPr id="188" name="Google Shape;188;p27"/>
            <p:cNvSpPr/>
            <p:nvPr/>
          </p:nvSpPr>
          <p:spPr>
            <a:xfrm>
              <a:off x="4610100" y="1619250"/>
              <a:ext cx="3810000" cy="2286000"/>
            </a:xfrm>
            <a:prstGeom prst="roundRect">
              <a:avLst>
                <a:gd fmla="val 5000" name="adj"/>
              </a:avLst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7"/>
            <p:cNvSpPr/>
            <p:nvPr/>
          </p:nvSpPr>
          <p:spPr>
            <a:xfrm>
              <a:off x="4610100" y="1619250"/>
              <a:ext cx="3810000" cy="38100"/>
            </a:xfrm>
            <a:prstGeom prst="roundRect">
              <a:avLst>
                <a:gd fmla="val 5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7"/>
            <p:cNvSpPr txBox="1"/>
            <p:nvPr/>
          </p:nvSpPr>
          <p:spPr>
            <a:xfrm>
              <a:off x="4800600" y="1762125"/>
              <a:ext cx="34290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EB56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2. 3-node Minikube Cluster</a:t>
              </a:r>
              <a:endParaRPr b="1" sz="1800">
                <a:solidFill>
                  <a:srgbClr val="EB56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E9EDE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Distributed environment across three dedicated nodes.</a:t>
              </a:r>
              <a:endParaRPr b="0" sz="1200">
                <a:solidFill>
                  <a:srgbClr val="E9EDEE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5275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E9EDEE"/>
                </a:buClr>
                <a:buSzPts val="1050"/>
                <a:buFont typeface="Times New Roman"/>
                <a:buChar char="●"/>
              </a:pPr>
              <a:r>
                <a:rPr b="1" lang="en" sz="1050">
                  <a:solidFill>
                    <a:srgbClr val="EB56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Node 1:</a:t>
              </a:r>
              <a:r>
                <a:rPr lang="en" sz="1050">
                  <a:solidFill>
                    <a:srgbClr val="E9EDE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" sz="1050">
                  <a:solidFill>
                    <a:schemeClr val="l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Redis (master backend)</a:t>
              </a:r>
              <a:endParaRPr sz="1050">
                <a:solidFill>
                  <a:srgbClr val="E9EDEE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E9EDEE"/>
                </a:buClr>
                <a:buSzPts val="1050"/>
                <a:buFont typeface="Times New Roman"/>
                <a:buChar char="●"/>
              </a:pPr>
              <a:r>
                <a:rPr b="1" lang="en" sz="1050">
                  <a:solidFill>
                    <a:srgbClr val="1A998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Node 2:</a:t>
              </a:r>
              <a:r>
                <a:rPr lang="en" sz="1050">
                  <a:solidFill>
                    <a:srgbClr val="E9EDE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Flask workers (requests)</a:t>
              </a:r>
              <a:endParaRPr sz="1050">
                <a:solidFill>
                  <a:srgbClr val="E9EDEE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E9EDEE"/>
                </a:buClr>
                <a:buSzPts val="1050"/>
                <a:buFont typeface="Times New Roman"/>
                <a:buChar char="●"/>
              </a:pPr>
              <a:r>
                <a:rPr b="1" lang="en" sz="10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Node 3:</a:t>
              </a:r>
              <a:r>
                <a:rPr lang="en" sz="1050">
                  <a:solidFill>
                    <a:srgbClr val="E9EDE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" sz="1050">
                  <a:solidFill>
                    <a:schemeClr val="l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CPU stress (noisy neighbor)</a:t>
              </a:r>
              <a:endParaRPr sz="1050">
                <a:solidFill>
                  <a:srgbClr val="E9EDEE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91" name="Google Shape;191;p27"/>
          <p:cNvGrpSpPr/>
          <p:nvPr/>
        </p:nvGrpSpPr>
        <p:grpSpPr>
          <a:xfrm>
            <a:off x="723900" y="4095750"/>
            <a:ext cx="7696200" cy="571500"/>
            <a:chOff x="723900" y="4095750"/>
            <a:chExt cx="7696200" cy="571500"/>
          </a:xfrm>
        </p:grpSpPr>
        <p:sp>
          <p:nvSpPr>
            <p:cNvPr id="192" name="Google Shape;192;p27"/>
            <p:cNvSpPr/>
            <p:nvPr/>
          </p:nvSpPr>
          <p:spPr>
            <a:xfrm>
              <a:off x="723900" y="4095750"/>
              <a:ext cx="7696200" cy="571500"/>
            </a:xfrm>
            <a:prstGeom prst="roundRect">
              <a:avLst>
                <a:gd fmla="val 16666" name="adj"/>
              </a:avLst>
            </a:prstGeom>
            <a:solidFill>
              <a:srgbClr val="E9ED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7"/>
            <p:cNvSpPr txBox="1"/>
            <p:nvPr/>
          </p:nvSpPr>
          <p:spPr>
            <a:xfrm>
              <a:off x="914400" y="4095750"/>
              <a:ext cx="7315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4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Request flow:</a:t>
              </a:r>
              <a:r>
                <a:rPr lang="en" sz="14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1" lang="en" sz="1400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wrk</a:t>
              </a:r>
              <a:r>
                <a:rPr lang="en" sz="14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1" lang="en" sz="1400">
                  <a:solidFill>
                    <a:srgbClr val="EB56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→</a:t>
              </a:r>
              <a:r>
                <a:rPr lang="en" sz="14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1" lang="en" sz="1400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Flask</a:t>
              </a:r>
              <a:r>
                <a:rPr lang="en" sz="14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1" lang="en" sz="1400">
                  <a:solidFill>
                    <a:srgbClr val="EB56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→</a:t>
              </a:r>
              <a:r>
                <a:rPr lang="en" sz="14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1" lang="en" sz="1400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Redis</a:t>
              </a:r>
              <a:endParaRPr sz="14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9" name="Google Shape;199;p2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0" name="Google Shape;200;p2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2" name="Google Shape;202;p28"/>
          <p:cNvSpPr txBox="1"/>
          <p:nvPr/>
        </p:nvSpPr>
        <p:spPr>
          <a:xfrm>
            <a:off x="723900" y="666750"/>
            <a:ext cx="7686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 Phases</a:t>
            </a:r>
            <a:endParaRPr b="1" sz="360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3" name="Google Shape;203;p28"/>
          <p:cNvGrpSpPr/>
          <p:nvPr/>
        </p:nvGrpSpPr>
        <p:grpSpPr>
          <a:xfrm>
            <a:off x="723900" y="1428750"/>
            <a:ext cx="7696200" cy="1905000"/>
            <a:chOff x="723900" y="1428750"/>
            <a:chExt cx="7696200" cy="1905000"/>
          </a:xfrm>
        </p:grpSpPr>
        <p:sp>
          <p:nvSpPr>
            <p:cNvPr id="204" name="Google Shape;204;p28"/>
            <p:cNvSpPr/>
            <p:nvPr/>
          </p:nvSpPr>
          <p:spPr>
            <a:xfrm>
              <a:off x="723900" y="1428750"/>
              <a:ext cx="2476500" cy="1905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8"/>
            <p:cNvSpPr txBox="1"/>
            <p:nvPr/>
          </p:nvSpPr>
          <p:spPr>
            <a:xfrm>
              <a:off x="914400" y="1571625"/>
              <a:ext cx="20955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1A998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1. Baseline</a:t>
              </a:r>
              <a:endParaRPr b="1" sz="1500">
                <a:solidFill>
                  <a:srgbClr val="1A9988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Normal conditions setup.</a:t>
              </a:r>
              <a:endParaRPr b="0" sz="11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595959"/>
                </a:buClr>
                <a:buSzPts val="1000"/>
                <a:buFont typeface="Times New Roman"/>
                <a:buChar char="●"/>
              </a:pPr>
              <a:r>
                <a:rPr b="0" lang="en" sz="10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 stress pod</a:t>
              </a:r>
              <a:endParaRPr b="0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595959"/>
                </a:buClr>
                <a:buSzPts val="1000"/>
                <a:buFont typeface="Times New Roman"/>
                <a:buChar char="●"/>
              </a:pPr>
              <a:r>
                <a:rPr b="0" lang="en" sz="10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Captures normal latency and kernel behavior</a:t>
              </a:r>
              <a:endParaRPr b="0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6" name="Google Shape;206;p28"/>
            <p:cNvSpPr/>
            <p:nvPr/>
          </p:nvSpPr>
          <p:spPr>
            <a:xfrm>
              <a:off x="3333750" y="1428750"/>
              <a:ext cx="2476500" cy="1905000"/>
            </a:xfrm>
            <a:prstGeom prst="roundRect">
              <a:avLst>
                <a:gd fmla="val 5000" name="adj"/>
              </a:avLst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8"/>
            <p:cNvSpPr txBox="1"/>
            <p:nvPr/>
          </p:nvSpPr>
          <p:spPr>
            <a:xfrm>
              <a:off x="3524250" y="1571625"/>
              <a:ext cx="20955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EB56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2. Stress</a:t>
              </a:r>
              <a:endParaRPr b="1" sz="1500">
                <a:solidFill>
                  <a:srgbClr val="EB56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E9EDE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Introducing contention.</a:t>
              </a:r>
              <a:endParaRPr b="0" sz="1100">
                <a:solidFill>
                  <a:srgbClr val="E9EDEE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E9EDEE"/>
                </a:buClr>
                <a:buSzPts val="1000"/>
                <a:buFont typeface="Times New Roman"/>
                <a:buChar char="●"/>
              </a:pPr>
              <a:r>
                <a:rPr b="0" lang="en" sz="1000">
                  <a:solidFill>
                    <a:srgbClr val="E9EDE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CPU stress enabled on node</a:t>
              </a:r>
              <a:endParaRPr b="0" sz="1000">
                <a:solidFill>
                  <a:srgbClr val="E9EDEE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E9EDEE"/>
                </a:buClr>
                <a:buSzPts val="1000"/>
                <a:buFont typeface="Times New Roman"/>
                <a:buChar char="●"/>
              </a:pPr>
              <a:r>
                <a:rPr b="0" lang="en" sz="1000">
                  <a:solidFill>
                    <a:srgbClr val="E9EDE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Measures impact on events and percentiles</a:t>
              </a:r>
              <a:endParaRPr b="0" sz="1000">
                <a:solidFill>
                  <a:srgbClr val="E9EDEE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8" name="Google Shape;208;p28"/>
            <p:cNvSpPr/>
            <p:nvPr/>
          </p:nvSpPr>
          <p:spPr>
            <a:xfrm>
              <a:off x="5943600" y="1428750"/>
              <a:ext cx="2476500" cy="1905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8"/>
            <p:cNvSpPr txBox="1"/>
            <p:nvPr/>
          </p:nvSpPr>
          <p:spPr>
            <a:xfrm>
              <a:off x="6134100" y="1571625"/>
              <a:ext cx="20955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1A998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3. Recovery</a:t>
              </a:r>
              <a:endParaRPr b="1" sz="1500">
                <a:solidFill>
                  <a:srgbClr val="1A9988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Post-stress observation.</a:t>
              </a:r>
              <a:endParaRPr b="0" sz="11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595959"/>
                </a:buClr>
                <a:buSzPts val="1000"/>
                <a:buFont typeface="Times New Roman"/>
                <a:buChar char="●"/>
              </a:pPr>
              <a:r>
                <a:rPr b="0" lang="en" sz="10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Stress pod removed</a:t>
              </a:r>
              <a:endParaRPr b="0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595959"/>
                </a:buClr>
                <a:buSzPts val="1000"/>
                <a:buFont typeface="Times New Roman"/>
                <a:buChar char="●"/>
              </a:pPr>
              <a:r>
                <a:rPr b="0" lang="en" sz="10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Measures signal return to baseline</a:t>
              </a:r>
              <a:endParaRPr b="0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10" name="Google Shape;210;p28"/>
          <p:cNvGrpSpPr/>
          <p:nvPr/>
        </p:nvGrpSpPr>
        <p:grpSpPr>
          <a:xfrm>
            <a:off x="723900" y="3654550"/>
            <a:ext cx="7696200" cy="952500"/>
            <a:chOff x="723900" y="3524250"/>
            <a:chExt cx="7696200" cy="952500"/>
          </a:xfrm>
        </p:grpSpPr>
        <p:sp>
          <p:nvSpPr>
            <p:cNvPr id="211" name="Google Shape;211;p28"/>
            <p:cNvSpPr/>
            <p:nvPr/>
          </p:nvSpPr>
          <p:spPr>
            <a:xfrm>
              <a:off x="723900" y="3524250"/>
              <a:ext cx="7696200" cy="952500"/>
            </a:xfrm>
            <a:prstGeom prst="roundRect">
              <a:avLst>
                <a:gd fmla="val 10000" name="adj"/>
              </a:avLst>
            </a:prstGeom>
            <a:solidFill>
              <a:srgbClr val="E9ED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8"/>
            <p:cNvSpPr txBox="1"/>
            <p:nvPr/>
          </p:nvSpPr>
          <p:spPr>
            <a:xfrm>
              <a:off x="1009650" y="3619500"/>
              <a:ext cx="71247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Overall Impact Assessment</a:t>
              </a:r>
              <a:endParaRPr b="1" sz="14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Single Node Setup - </a:t>
              </a:r>
              <a:r>
                <a:rPr lang="en" sz="11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 isolation leads to direct CPU competition between pods, resulting in more severe tail latency </a:t>
              </a:r>
              <a:endParaRPr b="0" sz="11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375"/>
                </a:spcAft>
                <a:buNone/>
              </a:pPr>
              <a:r>
                <a:rPr b="1" lang="en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Multi Node Setup - </a:t>
              </a:r>
              <a:r>
                <a:rPr lang="en" sz="110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Node-level isolation prevents direct CPU competition; noisy neighbor on a separate node shows no observable impact on tail latency.</a:t>
              </a:r>
              <a:endParaRPr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/>
          <p:nvPr>
            <p:ph type="title"/>
          </p:nvPr>
        </p:nvSpPr>
        <p:spPr>
          <a:xfrm>
            <a:off x="780025" y="41968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a single node, CPU stress causes p99 latency to spike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43% at 200 connections</a:t>
            </a:r>
            <a:r>
              <a:rPr b="0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(195ms → 280ms) due to direct kernel scheduler contention between the Flask app and cpu-stress. Recovery phase returns to baseline, proving the degradation is fully reversible.</a:t>
            </a:r>
            <a:endParaRPr/>
          </a:p>
        </p:txBody>
      </p:sp>
      <p:pic>
        <p:nvPicPr>
          <p:cNvPr id="218" name="Google Shape;218;p29" title="singlenode_multiple_microservices_latenc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4775" y="1302900"/>
            <a:ext cx="6527875" cy="2771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9"/>
          <p:cNvSpPr txBox="1"/>
          <p:nvPr/>
        </p:nvSpPr>
        <p:spPr>
          <a:xfrm>
            <a:off x="830575" y="574400"/>
            <a:ext cx="75876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Node Results</a:t>
            </a:r>
            <a:endParaRPr b="1" sz="2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/>
          <p:nvPr>
            <p:ph type="title"/>
          </p:nvPr>
        </p:nvSpPr>
        <p:spPr>
          <a:xfrm>
            <a:off x="601238" y="43230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a single node, despite p99 latency appearing similar at low concurrency,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cpu-stress</a:t>
            </a:r>
            <a:r>
              <a:rPr b="0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causes a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37% RPS collapse at 50 connections</a:t>
            </a:r>
            <a:r>
              <a:rPr b="0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(1290 → 810 RPS) — revealing that the system is silently degrading throughput while masking latency impact. This demonstrates that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RPS drop is a more sensitive indicator</a:t>
            </a:r>
            <a:r>
              <a:rPr b="0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CPU starvation than tail latency alone.</a:t>
            </a:r>
            <a:endParaRPr/>
          </a:p>
        </p:txBody>
      </p:sp>
      <p:pic>
        <p:nvPicPr>
          <p:cNvPr id="225" name="Google Shape;225;p30" title="singlenode_multiple_microservices_throughp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625" y="1350250"/>
            <a:ext cx="7027924" cy="2842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0"/>
          <p:cNvSpPr txBox="1"/>
          <p:nvPr/>
        </p:nvSpPr>
        <p:spPr>
          <a:xfrm>
            <a:off x="830575" y="574400"/>
            <a:ext cx="75876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Node Results</a:t>
            </a:r>
            <a:endParaRPr b="1" sz="2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1"/>
          <p:cNvSpPr/>
          <p:nvPr/>
        </p:nvSpPr>
        <p:spPr>
          <a:xfrm>
            <a:off x="381000" y="762000"/>
            <a:ext cx="1905000" cy="381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1"/>
          <p:cNvSpPr txBox="1"/>
          <p:nvPr/>
        </p:nvSpPr>
        <p:spPr>
          <a:xfrm>
            <a:off x="381000" y="1905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6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Node Observations</a:t>
            </a:r>
            <a:endParaRPr b="1" sz="296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34" name="Google Shape;234;p31"/>
          <p:cNvGrpSpPr/>
          <p:nvPr/>
        </p:nvGrpSpPr>
        <p:grpSpPr>
          <a:xfrm>
            <a:off x="381000" y="1047750"/>
            <a:ext cx="8382150" cy="3333900"/>
            <a:chOff x="381000" y="1047750"/>
            <a:chExt cx="8382150" cy="3333900"/>
          </a:xfrm>
        </p:grpSpPr>
        <p:sp>
          <p:nvSpPr>
            <p:cNvPr id="235" name="Google Shape;235;p31"/>
            <p:cNvSpPr/>
            <p:nvPr/>
          </p:nvSpPr>
          <p:spPr>
            <a:xfrm>
              <a:off x="381000" y="1047750"/>
              <a:ext cx="4095900" cy="1714500"/>
            </a:xfrm>
            <a:prstGeom prst="roundRect">
              <a:avLst>
                <a:gd fmla="val 4444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1"/>
            <p:cNvSpPr txBox="1"/>
            <p:nvPr/>
          </p:nvSpPr>
          <p:spPr>
            <a:xfrm>
              <a:off x="523875" y="1190625"/>
              <a:ext cx="3810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A9988"/>
                  </a:solidFill>
                  <a:latin typeface="Lato"/>
                  <a:ea typeface="Lato"/>
                  <a:cs typeface="Lato"/>
                  <a:sym typeface="Lato"/>
                </a:rPr>
                <a:t>Latency &amp; Growth</a:t>
              </a:r>
              <a:endParaRPr b="1" sz="1600">
                <a:solidFill>
                  <a:srgbClr val="1A998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Lato"/>
                <a:buChar char="●"/>
              </a:pPr>
              <a:r>
                <a:rPr lang="en" sz="11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p99 latency increases steadily with load</a:t>
              </a:r>
              <a:endParaRPr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Lato"/>
                <a:buChar char="●"/>
              </a:pPr>
              <a:r>
                <a:rPr lang="en" sz="11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No sudden spikes; smoother growth than multi-node</a:t>
              </a:r>
              <a:endParaRPr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Lato"/>
                <a:buChar char="●"/>
              </a:pPr>
              <a:r>
                <a:rPr lang="en" sz="11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Reaches ~300 ms at high connections</a:t>
              </a:r>
              <a:endParaRPr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Lato"/>
                <a:buChar char="●"/>
              </a:pPr>
              <a:r>
                <a:rPr lang="en" sz="11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Tail latency exists even without network effects</a:t>
              </a:r>
              <a:endParaRPr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7" name="Google Shape;237;p31"/>
            <p:cNvSpPr/>
            <p:nvPr/>
          </p:nvSpPr>
          <p:spPr>
            <a:xfrm>
              <a:off x="4667250" y="1047750"/>
              <a:ext cx="4095900" cy="1714500"/>
            </a:xfrm>
            <a:prstGeom prst="roundRect">
              <a:avLst>
                <a:gd fmla="val 4444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1"/>
            <p:cNvSpPr txBox="1"/>
            <p:nvPr/>
          </p:nvSpPr>
          <p:spPr>
            <a:xfrm>
              <a:off x="4810125" y="1190625"/>
              <a:ext cx="3810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Throughput &amp; Capacity</a:t>
              </a:r>
              <a:endParaRPr b="1" sz="16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Lato"/>
                <a:buChar char="●"/>
              </a:pPr>
              <a:r>
                <a:rPr lang="en" sz="11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Increases initially but plateaus early</a:t>
              </a:r>
              <a:endParaRPr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Lato"/>
                <a:buChar char="●"/>
              </a:pPr>
              <a:r>
                <a:rPr lang="en" sz="11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System hits capacity limit quickly</a:t>
              </a:r>
              <a:endParaRPr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475569"/>
                </a:buClr>
                <a:buSzPts val="1100"/>
                <a:buFont typeface="Lato"/>
                <a:buChar char="●"/>
              </a:pPr>
              <a:r>
                <a:rPr lang="en" sz="11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No sharp drop → no network overhead</a:t>
              </a:r>
              <a:endParaRPr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9" name="Google Shape;239;p31"/>
            <p:cNvSpPr/>
            <p:nvPr/>
          </p:nvSpPr>
          <p:spPr>
            <a:xfrm>
              <a:off x="381000" y="2952750"/>
              <a:ext cx="8382000" cy="1428900"/>
            </a:xfrm>
            <a:prstGeom prst="roundRect">
              <a:avLst>
                <a:gd fmla="val 5333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1"/>
            <p:cNvSpPr txBox="1"/>
            <p:nvPr/>
          </p:nvSpPr>
          <p:spPr>
            <a:xfrm>
              <a:off x="523875" y="3095625"/>
              <a:ext cx="8096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Key Technical Insights</a:t>
              </a:r>
              <a:endParaRPr b="1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• Resource Saturation: </a:t>
              </a:r>
              <a:r>
                <a:rPr b="0" lang="en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Indicates CPU saturation on the same node</a:t>
              </a:r>
              <a:endParaRPr b="1" sz="12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• Performance Bottleneck: </a:t>
              </a:r>
              <a:r>
                <a:rPr b="0" lang="en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Limited mainly by CPU contention</a:t>
              </a:r>
              <a:endParaRPr b="1" sz="12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• Root Cause: </a:t>
              </a:r>
              <a:r>
                <a:rPr b="0" lang="en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Kernel scheduling and local contention are sufficient to cause p99 issues</a:t>
              </a:r>
              <a:endParaRPr b="1" sz="12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2"/>
          <p:cNvSpPr/>
          <p:nvPr/>
        </p:nvSpPr>
        <p:spPr>
          <a:xfrm>
            <a:off x="381000" y="762000"/>
            <a:ext cx="1905000" cy="381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2"/>
          <p:cNvSpPr txBox="1"/>
          <p:nvPr/>
        </p:nvSpPr>
        <p:spPr>
          <a:xfrm>
            <a:off x="381000" y="95250"/>
            <a:ext cx="83820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Multi-Node: TCP Probe Send Latency Results</a:t>
            </a:r>
            <a:endParaRPr b="1" sz="280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48" name="Google Shape;248;p32"/>
          <p:cNvGrpSpPr/>
          <p:nvPr/>
        </p:nvGrpSpPr>
        <p:grpSpPr>
          <a:xfrm>
            <a:off x="285750" y="1000125"/>
            <a:ext cx="4191000" cy="1905000"/>
            <a:chOff x="285750" y="1000125"/>
            <a:chExt cx="4191000" cy="1905000"/>
          </a:xfrm>
        </p:grpSpPr>
        <p:sp>
          <p:nvSpPr>
            <p:cNvPr id="249" name="Google Shape;249;p32"/>
            <p:cNvSpPr/>
            <p:nvPr/>
          </p:nvSpPr>
          <p:spPr>
            <a:xfrm>
              <a:off x="285750" y="1000125"/>
              <a:ext cx="4191000" cy="1905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2"/>
            <p:cNvSpPr txBox="1"/>
            <p:nvPr/>
          </p:nvSpPr>
          <p:spPr>
            <a:xfrm>
              <a:off x="428625" y="1095375"/>
              <a:ext cx="3905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Phase 1: Baseline TCP Send Latency Distribution</a:t>
              </a:r>
              <a:endParaRPr b="1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251" name="Google Shape;251;p32"/>
          <p:cNvPicPr preferRelativeResize="0"/>
          <p:nvPr/>
        </p:nvPicPr>
        <p:blipFill rotWithShape="1">
          <a:blip r:embed="rId4">
            <a:alphaModFix/>
          </a:blip>
          <a:srcRect b="6094" l="0" r="0" t="6102"/>
          <a:stretch/>
        </p:blipFill>
        <p:spPr>
          <a:xfrm>
            <a:off x="428625" y="1381125"/>
            <a:ext cx="3905400" cy="1428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2" name="Google Shape;252;p32"/>
          <p:cNvGrpSpPr/>
          <p:nvPr/>
        </p:nvGrpSpPr>
        <p:grpSpPr>
          <a:xfrm>
            <a:off x="4667250" y="1000125"/>
            <a:ext cx="4191000" cy="1905000"/>
            <a:chOff x="4667250" y="1000125"/>
            <a:chExt cx="4191000" cy="1905000"/>
          </a:xfrm>
        </p:grpSpPr>
        <p:sp>
          <p:nvSpPr>
            <p:cNvPr id="253" name="Google Shape;253;p32"/>
            <p:cNvSpPr/>
            <p:nvPr/>
          </p:nvSpPr>
          <p:spPr>
            <a:xfrm>
              <a:off x="4667250" y="1000125"/>
              <a:ext cx="4191000" cy="1905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2"/>
            <p:cNvSpPr txBox="1"/>
            <p:nvPr/>
          </p:nvSpPr>
          <p:spPr>
            <a:xfrm>
              <a:off x="4810125" y="1095375"/>
              <a:ext cx="3905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Phase 2: Stress TCP Send Latency Distribution</a:t>
              </a:r>
              <a:endParaRPr b="1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255" name="Google Shape;255;p32"/>
          <p:cNvPicPr preferRelativeResize="0"/>
          <p:nvPr/>
        </p:nvPicPr>
        <p:blipFill rotWithShape="1">
          <a:blip r:embed="rId5">
            <a:alphaModFix/>
          </a:blip>
          <a:srcRect b="6102" l="0" r="0" t="6094"/>
          <a:stretch/>
        </p:blipFill>
        <p:spPr>
          <a:xfrm>
            <a:off x="4810125" y="1381125"/>
            <a:ext cx="3905400" cy="1428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6" name="Google Shape;256;p32"/>
          <p:cNvGrpSpPr/>
          <p:nvPr/>
        </p:nvGrpSpPr>
        <p:grpSpPr>
          <a:xfrm>
            <a:off x="285750" y="3000375"/>
            <a:ext cx="8572500" cy="2000100"/>
            <a:chOff x="285750" y="3000375"/>
            <a:chExt cx="8572500" cy="2000100"/>
          </a:xfrm>
        </p:grpSpPr>
        <p:sp>
          <p:nvSpPr>
            <p:cNvPr id="257" name="Google Shape;257;p32"/>
            <p:cNvSpPr/>
            <p:nvPr/>
          </p:nvSpPr>
          <p:spPr>
            <a:xfrm>
              <a:off x="285750" y="3000375"/>
              <a:ext cx="8572500" cy="2000100"/>
            </a:xfrm>
            <a:prstGeom prst="roundRect">
              <a:avLst>
                <a:gd fmla="val 380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2"/>
            <p:cNvSpPr txBox="1"/>
            <p:nvPr/>
          </p:nvSpPr>
          <p:spPr>
            <a:xfrm>
              <a:off x="428625" y="3095625"/>
              <a:ext cx="8286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Phase 3: Recovery TCP Send Latency Distribution</a:t>
              </a:r>
              <a:endParaRPr b="1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259" name="Google Shape;259;p32"/>
          <p:cNvPicPr preferRelativeResize="0"/>
          <p:nvPr/>
        </p:nvPicPr>
        <p:blipFill rotWithShape="1">
          <a:blip r:embed="rId6">
            <a:alphaModFix/>
          </a:blip>
          <a:srcRect b="9494" l="0" r="0" t="9494"/>
          <a:stretch/>
        </p:blipFill>
        <p:spPr>
          <a:xfrm>
            <a:off x="2314575" y="3381375"/>
            <a:ext cx="4515000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3"/>
          <p:cNvSpPr/>
          <p:nvPr/>
        </p:nvSpPr>
        <p:spPr>
          <a:xfrm>
            <a:off x="381000" y="762000"/>
            <a:ext cx="1905000" cy="381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3"/>
          <p:cNvSpPr txBox="1"/>
          <p:nvPr/>
        </p:nvSpPr>
        <p:spPr>
          <a:xfrm>
            <a:off x="381000" y="142875"/>
            <a:ext cx="8382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Multi-Node: </a:t>
            </a:r>
            <a:r>
              <a:rPr b="1" lang="en" sz="28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</a:t>
            </a:r>
            <a:r>
              <a:rPr b="1" lang="en" sz="28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-Q</a:t>
            </a:r>
            <a:r>
              <a:rPr b="1" lang="en" sz="28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ueue</a:t>
            </a:r>
            <a:r>
              <a:rPr b="1" lang="en" sz="28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Latency Analysis</a:t>
            </a:r>
            <a:endParaRPr b="1" sz="280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67" name="Google Shape;267;p33"/>
          <p:cNvGrpSpPr/>
          <p:nvPr/>
        </p:nvGrpSpPr>
        <p:grpSpPr>
          <a:xfrm>
            <a:off x="285750" y="1000125"/>
            <a:ext cx="4191000" cy="1905000"/>
            <a:chOff x="285750" y="1000125"/>
            <a:chExt cx="4191000" cy="1905000"/>
          </a:xfrm>
        </p:grpSpPr>
        <p:sp>
          <p:nvSpPr>
            <p:cNvPr id="268" name="Google Shape;268;p33"/>
            <p:cNvSpPr/>
            <p:nvPr/>
          </p:nvSpPr>
          <p:spPr>
            <a:xfrm>
              <a:off x="285750" y="1000125"/>
              <a:ext cx="4191000" cy="1905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3"/>
            <p:cNvSpPr txBox="1"/>
            <p:nvPr/>
          </p:nvSpPr>
          <p:spPr>
            <a:xfrm>
              <a:off x="428625" y="1095375"/>
              <a:ext cx="39054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Phase 1: Baseline Run-Queue Latency Distribution</a:t>
              </a:r>
              <a:endParaRPr b="1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270" name="Google Shape;270;p33"/>
          <p:cNvPicPr preferRelativeResize="0"/>
          <p:nvPr/>
        </p:nvPicPr>
        <p:blipFill rotWithShape="1">
          <a:blip r:embed="rId4">
            <a:alphaModFix/>
          </a:blip>
          <a:srcRect b="6102" l="0" r="0" t="6094"/>
          <a:stretch/>
        </p:blipFill>
        <p:spPr>
          <a:xfrm>
            <a:off x="428625" y="1381125"/>
            <a:ext cx="3905400" cy="1428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1" name="Google Shape;271;p33"/>
          <p:cNvGrpSpPr/>
          <p:nvPr/>
        </p:nvGrpSpPr>
        <p:grpSpPr>
          <a:xfrm>
            <a:off x="4667250" y="1000125"/>
            <a:ext cx="4191000" cy="1905000"/>
            <a:chOff x="4667250" y="1000125"/>
            <a:chExt cx="4191000" cy="1905000"/>
          </a:xfrm>
        </p:grpSpPr>
        <p:sp>
          <p:nvSpPr>
            <p:cNvPr id="272" name="Google Shape;272;p33"/>
            <p:cNvSpPr/>
            <p:nvPr/>
          </p:nvSpPr>
          <p:spPr>
            <a:xfrm>
              <a:off x="4667250" y="1000125"/>
              <a:ext cx="4191000" cy="1905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33"/>
            <p:cNvSpPr txBox="1"/>
            <p:nvPr/>
          </p:nvSpPr>
          <p:spPr>
            <a:xfrm>
              <a:off x="4810125" y="1095375"/>
              <a:ext cx="39054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Phase 2: Stress Run-Queue Latency Distribution</a:t>
              </a:r>
              <a:endParaRPr b="1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274" name="Google Shape;274;p33"/>
          <p:cNvPicPr preferRelativeResize="0"/>
          <p:nvPr/>
        </p:nvPicPr>
        <p:blipFill rotWithShape="1">
          <a:blip r:embed="rId5">
            <a:alphaModFix/>
          </a:blip>
          <a:srcRect b="6102" l="0" r="0" t="6094"/>
          <a:stretch/>
        </p:blipFill>
        <p:spPr>
          <a:xfrm>
            <a:off x="4810125" y="1381125"/>
            <a:ext cx="3905400" cy="1428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5" name="Google Shape;275;p33"/>
          <p:cNvGrpSpPr/>
          <p:nvPr/>
        </p:nvGrpSpPr>
        <p:grpSpPr>
          <a:xfrm>
            <a:off x="285750" y="3048000"/>
            <a:ext cx="8572500" cy="1905000"/>
            <a:chOff x="285750" y="3048000"/>
            <a:chExt cx="8572500" cy="1905000"/>
          </a:xfrm>
        </p:grpSpPr>
        <p:sp>
          <p:nvSpPr>
            <p:cNvPr id="276" name="Google Shape;276;p33"/>
            <p:cNvSpPr/>
            <p:nvPr/>
          </p:nvSpPr>
          <p:spPr>
            <a:xfrm>
              <a:off x="285750" y="3048000"/>
              <a:ext cx="8572500" cy="1905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33"/>
            <p:cNvSpPr txBox="1"/>
            <p:nvPr/>
          </p:nvSpPr>
          <p:spPr>
            <a:xfrm>
              <a:off x="428625" y="3143250"/>
              <a:ext cx="82869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Phase 3: Recovery Run-Queue Latency Distribution</a:t>
              </a:r>
              <a:endParaRPr b="1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278" name="Google Shape;278;p33"/>
          <p:cNvPicPr preferRelativeResize="0"/>
          <p:nvPr/>
        </p:nvPicPr>
        <p:blipFill rotWithShape="1">
          <a:blip r:embed="rId6">
            <a:alphaModFix/>
          </a:blip>
          <a:srcRect b="12030" l="0" r="0" t="12022"/>
          <a:stretch/>
        </p:blipFill>
        <p:spPr>
          <a:xfrm>
            <a:off x="2314575" y="3429000"/>
            <a:ext cx="4515000" cy="14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4"/>
          <p:cNvSpPr/>
          <p:nvPr/>
        </p:nvSpPr>
        <p:spPr>
          <a:xfrm>
            <a:off x="381000" y="762000"/>
            <a:ext cx="1905000" cy="381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4"/>
          <p:cNvSpPr txBox="1"/>
          <p:nvPr/>
        </p:nvSpPr>
        <p:spPr>
          <a:xfrm>
            <a:off x="381000" y="190500"/>
            <a:ext cx="8382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Multi-Node: TCP-Retransmit By Process Analysis</a:t>
            </a:r>
            <a:endParaRPr b="1" sz="280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86" name="Google Shape;286;p34"/>
          <p:cNvGrpSpPr/>
          <p:nvPr/>
        </p:nvGrpSpPr>
        <p:grpSpPr>
          <a:xfrm>
            <a:off x="381000" y="1143000"/>
            <a:ext cx="4095900" cy="3619500"/>
            <a:chOff x="381000" y="1143000"/>
            <a:chExt cx="4095900" cy="3619500"/>
          </a:xfrm>
        </p:grpSpPr>
        <p:sp>
          <p:nvSpPr>
            <p:cNvPr id="287" name="Google Shape;287;p34"/>
            <p:cNvSpPr/>
            <p:nvPr/>
          </p:nvSpPr>
          <p:spPr>
            <a:xfrm>
              <a:off x="381000" y="1143000"/>
              <a:ext cx="4095900" cy="3619500"/>
            </a:xfrm>
            <a:prstGeom prst="roundRect">
              <a:avLst>
                <a:gd fmla="val 210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4"/>
            <p:cNvSpPr txBox="1"/>
            <p:nvPr/>
          </p:nvSpPr>
          <p:spPr>
            <a:xfrm>
              <a:off x="476250" y="1238250"/>
              <a:ext cx="39054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Phase 1: TCP Retransmits by Process</a:t>
              </a:r>
              <a:endParaRPr b="1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289" name="Google Shape;289;p34"/>
            <p:cNvPicPr preferRelativeResize="0"/>
            <p:nvPr/>
          </p:nvPicPr>
          <p:blipFill rotWithShape="1">
            <a:blip r:embed="rId4">
              <a:alphaModFix/>
            </a:blip>
            <a:srcRect b="0" l="9376" r="9376" t="0"/>
            <a:stretch/>
          </p:blipFill>
          <p:spPr>
            <a:xfrm>
              <a:off x="571500" y="1619250"/>
              <a:ext cx="3714900" cy="3048000"/>
            </a:xfrm>
            <a:prstGeom prst="roundRect">
              <a:avLst>
                <a:gd fmla="val 1250" name="adj"/>
              </a:avLst>
            </a:prstGeom>
            <a:noFill/>
            <a:ln>
              <a:noFill/>
            </a:ln>
          </p:spPr>
        </p:pic>
      </p:grpSp>
      <p:grpSp>
        <p:nvGrpSpPr>
          <p:cNvPr id="290" name="Google Shape;290;p34"/>
          <p:cNvGrpSpPr/>
          <p:nvPr/>
        </p:nvGrpSpPr>
        <p:grpSpPr>
          <a:xfrm>
            <a:off x="4667250" y="1143000"/>
            <a:ext cx="4216200" cy="3619500"/>
            <a:chOff x="4667250" y="1143000"/>
            <a:chExt cx="4216200" cy="3619500"/>
          </a:xfrm>
        </p:grpSpPr>
        <p:sp>
          <p:nvSpPr>
            <p:cNvPr id="291" name="Google Shape;291;p34"/>
            <p:cNvSpPr/>
            <p:nvPr/>
          </p:nvSpPr>
          <p:spPr>
            <a:xfrm>
              <a:off x="4667250" y="1143000"/>
              <a:ext cx="4095900" cy="3619500"/>
            </a:xfrm>
            <a:prstGeom prst="roundRect">
              <a:avLst>
                <a:gd fmla="val 210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4"/>
            <p:cNvSpPr txBox="1"/>
            <p:nvPr/>
          </p:nvSpPr>
          <p:spPr>
            <a:xfrm>
              <a:off x="4762500" y="1238250"/>
              <a:ext cx="39054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Phase 2: TCP Retransmits by Process</a:t>
              </a:r>
              <a:endParaRPr b="1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293" name="Google Shape;293;p34"/>
            <p:cNvPicPr preferRelativeResize="0"/>
            <p:nvPr/>
          </p:nvPicPr>
          <p:blipFill rotWithShape="1">
            <a:blip r:embed="rId5">
              <a:alphaModFix/>
            </a:blip>
            <a:srcRect b="0" l="9892" r="-2777" t="0"/>
            <a:stretch/>
          </p:blipFill>
          <p:spPr>
            <a:xfrm>
              <a:off x="4857750" y="1619250"/>
              <a:ext cx="4025700" cy="3048000"/>
            </a:xfrm>
            <a:prstGeom prst="roundRect">
              <a:avLst>
                <a:gd fmla="val 1250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5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5"/>
          <p:cNvSpPr/>
          <p:nvPr/>
        </p:nvSpPr>
        <p:spPr>
          <a:xfrm>
            <a:off x="381000" y="762000"/>
            <a:ext cx="1905000" cy="381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5"/>
          <p:cNvSpPr txBox="1"/>
          <p:nvPr/>
        </p:nvSpPr>
        <p:spPr>
          <a:xfrm>
            <a:off x="381000" y="142875"/>
            <a:ext cx="8382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Multi-Node: Socket-Drop Analysis</a:t>
            </a:r>
            <a:endParaRPr b="1" sz="280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01" name="Google Shape;301;p35"/>
          <p:cNvGrpSpPr/>
          <p:nvPr/>
        </p:nvGrpSpPr>
        <p:grpSpPr>
          <a:xfrm>
            <a:off x="285750" y="1047750"/>
            <a:ext cx="4191000" cy="3810000"/>
            <a:chOff x="285750" y="1047750"/>
            <a:chExt cx="4191000" cy="3810000"/>
          </a:xfrm>
        </p:grpSpPr>
        <p:sp>
          <p:nvSpPr>
            <p:cNvPr id="302" name="Google Shape;302;p35"/>
            <p:cNvSpPr/>
            <p:nvPr/>
          </p:nvSpPr>
          <p:spPr>
            <a:xfrm>
              <a:off x="285750" y="1047750"/>
              <a:ext cx="4191000" cy="3810000"/>
            </a:xfrm>
            <a:prstGeom prst="roundRect">
              <a:avLst>
                <a:gd fmla="val 3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5"/>
            <p:cNvSpPr txBox="1"/>
            <p:nvPr/>
          </p:nvSpPr>
          <p:spPr>
            <a:xfrm>
              <a:off x="285750" y="1047750"/>
              <a:ext cx="419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Phase 1: Socket Usage by Process</a:t>
              </a:r>
              <a:endParaRPr b="1" sz="14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304" name="Google Shape;304;p35"/>
            <p:cNvPicPr preferRelativeResize="0"/>
            <p:nvPr/>
          </p:nvPicPr>
          <p:blipFill rotWithShape="1">
            <a:blip r:embed="rId4">
              <a:alphaModFix/>
            </a:blip>
            <a:srcRect b="1114" l="0" r="0" t="1124"/>
            <a:stretch/>
          </p:blipFill>
          <p:spPr>
            <a:xfrm>
              <a:off x="476250" y="1619250"/>
              <a:ext cx="3810000" cy="3048000"/>
            </a:xfrm>
            <a:prstGeom prst="roundRect">
              <a:avLst>
                <a:gd fmla="val 2500" name="adj"/>
              </a:avLst>
            </a:prstGeom>
            <a:noFill/>
            <a:ln>
              <a:noFill/>
            </a:ln>
          </p:spPr>
        </p:pic>
      </p:grpSp>
      <p:grpSp>
        <p:nvGrpSpPr>
          <p:cNvPr id="305" name="Google Shape;305;p35"/>
          <p:cNvGrpSpPr/>
          <p:nvPr/>
        </p:nvGrpSpPr>
        <p:grpSpPr>
          <a:xfrm>
            <a:off x="4667250" y="1047750"/>
            <a:ext cx="4191000" cy="3810000"/>
            <a:chOff x="4667250" y="1047750"/>
            <a:chExt cx="4191000" cy="3810000"/>
          </a:xfrm>
        </p:grpSpPr>
        <p:sp>
          <p:nvSpPr>
            <p:cNvPr id="306" name="Google Shape;306;p35"/>
            <p:cNvSpPr/>
            <p:nvPr/>
          </p:nvSpPr>
          <p:spPr>
            <a:xfrm>
              <a:off x="4667250" y="1047750"/>
              <a:ext cx="4191000" cy="3810000"/>
            </a:xfrm>
            <a:prstGeom prst="roundRect">
              <a:avLst>
                <a:gd fmla="val 3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5"/>
            <p:cNvSpPr txBox="1"/>
            <p:nvPr/>
          </p:nvSpPr>
          <p:spPr>
            <a:xfrm>
              <a:off x="4667250" y="1047750"/>
              <a:ext cx="419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Phase 2: Socket Usage by Process</a:t>
              </a:r>
              <a:endParaRPr b="1" sz="14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308" name="Google Shape;308;p35"/>
            <p:cNvPicPr preferRelativeResize="0"/>
            <p:nvPr/>
          </p:nvPicPr>
          <p:blipFill rotWithShape="1">
            <a:blip r:embed="rId5">
              <a:alphaModFix/>
            </a:blip>
            <a:srcRect b="1114" l="0" r="0" t="1124"/>
            <a:stretch/>
          </p:blipFill>
          <p:spPr>
            <a:xfrm>
              <a:off x="4857750" y="1619250"/>
              <a:ext cx="3810000" cy="3048000"/>
            </a:xfrm>
            <a:prstGeom prst="roundRect">
              <a:avLst>
                <a:gd fmla="val 2500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6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6"/>
          <p:cNvSpPr/>
          <p:nvPr/>
        </p:nvSpPr>
        <p:spPr>
          <a:xfrm>
            <a:off x="381000" y="762000"/>
            <a:ext cx="1905000" cy="381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6"/>
          <p:cNvSpPr txBox="1"/>
          <p:nvPr/>
        </p:nvSpPr>
        <p:spPr>
          <a:xfrm>
            <a:off x="381000" y="142875"/>
            <a:ext cx="8382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Multi-Node: Probe- Redis Latency Analysis</a:t>
            </a:r>
            <a:endParaRPr b="1" sz="280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6" name="Google Shape;316;p36" title="Phase1_Figure_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54800"/>
            <a:ext cx="4404300" cy="188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6" title="Phase2_Figure_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6700" y="800100"/>
            <a:ext cx="4419600" cy="193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6" title="Phase3_Figure_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7800" y="2735375"/>
            <a:ext cx="6752976" cy="240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7"/>
          <p:cNvSpPr/>
          <p:nvPr/>
        </p:nvSpPr>
        <p:spPr>
          <a:xfrm>
            <a:off x="381000" y="762000"/>
            <a:ext cx="1905000" cy="381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7"/>
          <p:cNvSpPr txBox="1"/>
          <p:nvPr>
            <p:ph type="title"/>
          </p:nvPr>
        </p:nvSpPr>
        <p:spPr>
          <a:xfrm>
            <a:off x="381000" y="142875"/>
            <a:ext cx="8382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Phase Latency vs Connections Analysis</a:t>
            </a:r>
            <a:endParaRPr b="1" i="0" sz="280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25" name="Google Shape;325;p37"/>
          <p:cNvGrpSpPr/>
          <p:nvPr/>
        </p:nvGrpSpPr>
        <p:grpSpPr>
          <a:xfrm>
            <a:off x="285750" y="1047750"/>
            <a:ext cx="4191000" cy="1857300"/>
            <a:chOff x="285750" y="1047750"/>
            <a:chExt cx="4191000" cy="1857300"/>
          </a:xfrm>
        </p:grpSpPr>
        <p:sp>
          <p:nvSpPr>
            <p:cNvPr id="326" name="Google Shape;326;p37"/>
            <p:cNvSpPr/>
            <p:nvPr/>
          </p:nvSpPr>
          <p:spPr>
            <a:xfrm>
              <a:off x="285750" y="1047750"/>
              <a:ext cx="4191000" cy="18573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7"/>
            <p:cNvSpPr txBox="1"/>
            <p:nvPr/>
          </p:nvSpPr>
          <p:spPr>
            <a:xfrm>
              <a:off x="285750" y="1047750"/>
              <a:ext cx="419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Phase 1: </a:t>
              </a:r>
              <a:r>
                <a:rPr b="1" lang="en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Baseline</a:t>
              </a:r>
              <a:endParaRPr b="1" sz="14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328" name="Google Shape;32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349425"/>
            <a:ext cx="3810000" cy="1587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9" name="Google Shape;329;p37"/>
          <p:cNvGrpSpPr/>
          <p:nvPr/>
        </p:nvGrpSpPr>
        <p:grpSpPr>
          <a:xfrm>
            <a:off x="4667250" y="1047750"/>
            <a:ext cx="4191000" cy="1857300"/>
            <a:chOff x="4667250" y="1047750"/>
            <a:chExt cx="4191000" cy="1857300"/>
          </a:xfrm>
        </p:grpSpPr>
        <p:sp>
          <p:nvSpPr>
            <p:cNvPr id="330" name="Google Shape;330;p37"/>
            <p:cNvSpPr/>
            <p:nvPr/>
          </p:nvSpPr>
          <p:spPr>
            <a:xfrm>
              <a:off x="4667250" y="1047750"/>
              <a:ext cx="4191000" cy="18573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37"/>
            <p:cNvSpPr txBox="1"/>
            <p:nvPr/>
          </p:nvSpPr>
          <p:spPr>
            <a:xfrm>
              <a:off x="4667250" y="1047750"/>
              <a:ext cx="419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Phase 2: </a:t>
              </a:r>
              <a:r>
                <a:rPr b="1" lang="en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CPU Stress</a:t>
              </a:r>
              <a:endParaRPr b="1" sz="14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332" name="Google Shape;332;p37"/>
          <p:cNvPicPr preferRelativeResize="0"/>
          <p:nvPr/>
        </p:nvPicPr>
        <p:blipFill rotWithShape="1">
          <a:blip r:embed="rId5">
            <a:alphaModFix/>
          </a:blip>
          <a:srcRect b="2009" l="0" r="0" t="0"/>
          <a:stretch/>
        </p:blipFill>
        <p:spPr>
          <a:xfrm>
            <a:off x="4857750" y="1349425"/>
            <a:ext cx="3810000" cy="1555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3" name="Google Shape;333;p37"/>
          <p:cNvGrpSpPr/>
          <p:nvPr/>
        </p:nvGrpSpPr>
        <p:grpSpPr>
          <a:xfrm>
            <a:off x="476303" y="3040275"/>
            <a:ext cx="5190134" cy="2000100"/>
            <a:chOff x="1428750" y="3000375"/>
            <a:chExt cx="6286500" cy="2000100"/>
          </a:xfrm>
        </p:grpSpPr>
        <p:sp>
          <p:nvSpPr>
            <p:cNvPr id="334" name="Google Shape;334;p37"/>
            <p:cNvSpPr/>
            <p:nvPr/>
          </p:nvSpPr>
          <p:spPr>
            <a:xfrm>
              <a:off x="1428750" y="3000375"/>
              <a:ext cx="6286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7"/>
            <p:cNvSpPr txBox="1"/>
            <p:nvPr/>
          </p:nvSpPr>
          <p:spPr>
            <a:xfrm>
              <a:off x="1428750" y="3000375"/>
              <a:ext cx="628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Phase 3: Recovery </a:t>
              </a:r>
              <a:endParaRPr b="1" sz="14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336" name="Google Shape;336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9000" y="3333525"/>
            <a:ext cx="4191000" cy="174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7"/>
          <p:cNvSpPr txBox="1"/>
          <p:nvPr>
            <p:ph type="title"/>
          </p:nvPr>
        </p:nvSpPr>
        <p:spPr>
          <a:xfrm>
            <a:off x="5873750" y="3635075"/>
            <a:ext cx="3090600" cy="102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CPU stress forces a throughput-latency tradeoff</a:t>
            </a:r>
            <a:r>
              <a:rPr b="0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in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r>
              <a:rPr b="0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the system maintains similar p99 latency only by sacrificing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35% RPS</a:t>
            </a:r>
            <a:r>
              <a:rPr b="0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meaning the kernel is throttling request processing to avoid latency blowup rather than serving at full capacity.</a:t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8"/>
          <p:cNvSpPr/>
          <p:nvPr/>
        </p:nvSpPr>
        <p:spPr>
          <a:xfrm>
            <a:off x="381000" y="762000"/>
            <a:ext cx="1905000" cy="381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8"/>
          <p:cNvSpPr txBox="1"/>
          <p:nvPr>
            <p:ph type="title"/>
          </p:nvPr>
        </p:nvSpPr>
        <p:spPr>
          <a:xfrm>
            <a:off x="381000" y="142875"/>
            <a:ext cx="8382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Phase </a:t>
            </a:r>
            <a:r>
              <a:rPr lang="en" sz="28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Throughput vs Connections Analysis</a:t>
            </a:r>
            <a:endParaRPr b="1" i="0" sz="280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4" name="Google Shape;344;p38" title="9_all_phases_througphput_vsconnections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2500"/>
            <a:ext cx="8839200" cy="368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0" name="Google Shape;350;p3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51" name="Google Shape;351;p3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3" name="Google Shape;353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Multi-Node Obsevations</a:t>
            </a:r>
            <a:endParaRPr/>
          </a:p>
        </p:txBody>
      </p:sp>
      <p:grpSp>
        <p:nvGrpSpPr>
          <p:cNvPr id="354" name="Google Shape;354;p39"/>
          <p:cNvGrpSpPr/>
          <p:nvPr/>
        </p:nvGrpSpPr>
        <p:grpSpPr>
          <a:xfrm>
            <a:off x="723900" y="2095500"/>
            <a:ext cx="7429650" cy="2047875"/>
            <a:chOff x="723900" y="2095500"/>
            <a:chExt cx="7429650" cy="2047875"/>
          </a:xfrm>
        </p:grpSpPr>
        <p:grpSp>
          <p:nvGrpSpPr>
            <p:cNvPr id="355" name="Google Shape;355;p39"/>
            <p:cNvGrpSpPr/>
            <p:nvPr/>
          </p:nvGrpSpPr>
          <p:grpSpPr>
            <a:xfrm>
              <a:off x="723900" y="2095500"/>
              <a:ext cx="2381400" cy="952500"/>
              <a:chOff x="723900" y="2095500"/>
              <a:chExt cx="2381400" cy="952500"/>
            </a:xfrm>
          </p:grpSpPr>
          <p:sp>
            <p:nvSpPr>
              <p:cNvPr id="356" name="Google Shape;356;p39"/>
              <p:cNvSpPr/>
              <p:nvPr/>
            </p:nvSpPr>
            <p:spPr>
              <a:xfrm>
                <a:off x="723900" y="2095500"/>
                <a:ext cx="23814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F8FAFB"/>
              </a:solidFill>
              <a:ln cap="flat" cmpd="sng" w="9525">
                <a:solidFill>
                  <a:srgbClr val="E9EDE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39"/>
              <p:cNvSpPr txBox="1"/>
              <p:nvPr/>
            </p:nvSpPr>
            <p:spPr>
              <a:xfrm>
                <a:off x="723900" y="2095500"/>
                <a:ext cx="23814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42875" lIns="142875" spcFirstLastPara="1" rIns="142875" wrap="square" tIns="1428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A9988"/>
                    </a:solidFill>
                    <a:latin typeface="Lato"/>
                    <a:ea typeface="Lato"/>
                    <a:cs typeface="Lato"/>
                    <a:sym typeface="Lato"/>
                  </a:rPr>
                  <a:t>LATENCY TRENDS</a:t>
                </a:r>
                <a:endParaRPr b="1" sz="1100">
                  <a:solidFill>
                    <a:srgbClr val="1A9988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595959"/>
                    </a:solidFill>
                    <a:latin typeface="Lato"/>
                    <a:ea typeface="Lato"/>
                    <a:cs typeface="Lato"/>
                    <a:sym typeface="Lato"/>
                  </a:rPr>
                  <a:t>Latency increases with load in all phases</a:t>
                </a:r>
                <a:endParaRPr sz="11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58" name="Google Shape;358;p39"/>
            <p:cNvGrpSpPr/>
            <p:nvPr/>
          </p:nvGrpSpPr>
          <p:grpSpPr>
            <a:xfrm>
              <a:off x="3248025" y="2095500"/>
              <a:ext cx="2381400" cy="952500"/>
              <a:chOff x="3248025" y="2095500"/>
              <a:chExt cx="2381400" cy="952500"/>
            </a:xfrm>
          </p:grpSpPr>
          <p:sp>
            <p:nvSpPr>
              <p:cNvPr id="359" name="Google Shape;359;p39"/>
              <p:cNvSpPr/>
              <p:nvPr/>
            </p:nvSpPr>
            <p:spPr>
              <a:xfrm>
                <a:off x="3248025" y="2095500"/>
                <a:ext cx="23814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F8FAFB"/>
              </a:solidFill>
              <a:ln cap="flat" cmpd="sng" w="9525">
                <a:solidFill>
                  <a:srgbClr val="E9EDE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39"/>
              <p:cNvSpPr txBox="1"/>
              <p:nvPr/>
            </p:nvSpPr>
            <p:spPr>
              <a:xfrm>
                <a:off x="3248025" y="2095500"/>
                <a:ext cx="23814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42875" lIns="142875" spcFirstLastPara="1" rIns="142875" wrap="square" tIns="1428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EB5600"/>
                    </a:solidFill>
                    <a:latin typeface="Lato"/>
                    <a:ea typeface="Lato"/>
                    <a:cs typeface="Lato"/>
                    <a:sym typeface="Lato"/>
                  </a:rPr>
                  <a:t>STRESS PEAK</a:t>
                </a:r>
                <a:endParaRPr b="1" sz="1100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595959"/>
                    </a:solidFill>
                    <a:latin typeface="Lato"/>
                    <a:ea typeface="Lato"/>
                    <a:cs typeface="Lato"/>
                    <a:sym typeface="Lato"/>
                  </a:rPr>
                  <a:t>Highest p99 during stress (especially 200+ connections)</a:t>
                </a:r>
                <a:endParaRPr sz="11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61" name="Google Shape;361;p39"/>
            <p:cNvGrpSpPr/>
            <p:nvPr/>
          </p:nvGrpSpPr>
          <p:grpSpPr>
            <a:xfrm>
              <a:off x="5772150" y="2095500"/>
              <a:ext cx="2381400" cy="952500"/>
              <a:chOff x="5772150" y="2095500"/>
              <a:chExt cx="2381400" cy="952500"/>
            </a:xfrm>
          </p:grpSpPr>
          <p:sp>
            <p:nvSpPr>
              <p:cNvPr id="362" name="Google Shape;362;p39"/>
              <p:cNvSpPr/>
              <p:nvPr/>
            </p:nvSpPr>
            <p:spPr>
              <a:xfrm>
                <a:off x="5772150" y="2095500"/>
                <a:ext cx="23814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F8FAFB"/>
              </a:solidFill>
              <a:ln cap="flat" cmpd="sng" w="9525">
                <a:solidFill>
                  <a:srgbClr val="E9EDE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39"/>
              <p:cNvSpPr txBox="1"/>
              <p:nvPr/>
            </p:nvSpPr>
            <p:spPr>
              <a:xfrm>
                <a:off x="5772150" y="2095500"/>
                <a:ext cx="23814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42875" lIns="142875" spcFirstLastPara="1" rIns="142875" wrap="square" tIns="1428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A9988"/>
                    </a:solidFill>
                    <a:latin typeface="Lato"/>
                    <a:ea typeface="Lato"/>
                    <a:cs typeface="Lato"/>
                    <a:sym typeface="Lato"/>
                  </a:rPr>
                  <a:t>RECOVERY</a:t>
                </a:r>
                <a:endParaRPr b="1" sz="1100">
                  <a:solidFill>
                    <a:srgbClr val="1A9988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595959"/>
                    </a:solidFill>
                    <a:latin typeface="Lato"/>
                    <a:ea typeface="Lato"/>
                    <a:cs typeface="Lato"/>
                    <a:sym typeface="Lato"/>
                  </a:rPr>
                  <a:t>Recovery closely follows baseline performance</a:t>
                </a:r>
                <a:endParaRPr sz="11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64" name="Google Shape;364;p39"/>
            <p:cNvGrpSpPr/>
            <p:nvPr/>
          </p:nvGrpSpPr>
          <p:grpSpPr>
            <a:xfrm>
              <a:off x="723900" y="3190875"/>
              <a:ext cx="2381400" cy="952500"/>
              <a:chOff x="723900" y="3190875"/>
              <a:chExt cx="2381400" cy="952500"/>
            </a:xfrm>
          </p:grpSpPr>
          <p:sp>
            <p:nvSpPr>
              <p:cNvPr id="365" name="Google Shape;365;p39"/>
              <p:cNvSpPr/>
              <p:nvPr/>
            </p:nvSpPr>
            <p:spPr>
              <a:xfrm>
                <a:off x="723900" y="3190875"/>
                <a:ext cx="23814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F8FAFB"/>
              </a:solidFill>
              <a:ln cap="flat" cmpd="sng" w="9525">
                <a:solidFill>
                  <a:srgbClr val="E9EDE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39"/>
              <p:cNvSpPr txBox="1"/>
              <p:nvPr/>
            </p:nvSpPr>
            <p:spPr>
              <a:xfrm>
                <a:off x="723900" y="3190875"/>
                <a:ext cx="23814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42875" lIns="142875" spcFirstLastPara="1" rIns="142875" wrap="square" tIns="1428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EB5600"/>
                    </a:solidFill>
                    <a:latin typeface="Lato"/>
                    <a:ea typeface="Lato"/>
                    <a:cs typeface="Lato"/>
                    <a:sym typeface="Lato"/>
                  </a:rPr>
                  <a:t>THROUGHPUT</a:t>
                </a:r>
                <a:endParaRPr b="1" sz="1100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595959"/>
                    </a:solidFill>
                    <a:latin typeface="Lato"/>
                    <a:ea typeface="Lato"/>
                    <a:cs typeface="Lato"/>
                    <a:sym typeface="Lato"/>
                  </a:rPr>
                  <a:t>Significant drop in throughput under stress</a:t>
                </a:r>
                <a:endParaRPr sz="11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67" name="Google Shape;367;p39"/>
            <p:cNvGrpSpPr/>
            <p:nvPr/>
          </p:nvGrpSpPr>
          <p:grpSpPr>
            <a:xfrm>
              <a:off x="3248025" y="3190875"/>
              <a:ext cx="2381400" cy="952500"/>
              <a:chOff x="3248025" y="3190875"/>
              <a:chExt cx="2381400" cy="952500"/>
            </a:xfrm>
          </p:grpSpPr>
          <p:sp>
            <p:nvSpPr>
              <p:cNvPr id="368" name="Google Shape;368;p39"/>
              <p:cNvSpPr/>
              <p:nvPr/>
            </p:nvSpPr>
            <p:spPr>
              <a:xfrm>
                <a:off x="3248025" y="3190875"/>
                <a:ext cx="23814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F8FAFB"/>
              </a:solidFill>
              <a:ln cap="flat" cmpd="sng" w="9525">
                <a:solidFill>
                  <a:srgbClr val="E9EDE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39"/>
              <p:cNvSpPr txBox="1"/>
              <p:nvPr/>
            </p:nvSpPr>
            <p:spPr>
              <a:xfrm>
                <a:off x="3248025" y="3190875"/>
                <a:ext cx="23814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42875" lIns="142875" spcFirstLastPara="1" rIns="142875" wrap="square" tIns="1428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A9988"/>
                    </a:solidFill>
                    <a:latin typeface="Lato"/>
                    <a:ea typeface="Lato"/>
                    <a:cs typeface="Lato"/>
                    <a:sym typeface="Lato"/>
                  </a:rPr>
                  <a:t>CONSISTENCY</a:t>
                </a:r>
                <a:endParaRPr b="1" sz="1100">
                  <a:solidFill>
                    <a:srgbClr val="1A9988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595959"/>
                    </a:solidFill>
                    <a:latin typeface="Lato"/>
                    <a:ea typeface="Lato"/>
                    <a:cs typeface="Lato"/>
                    <a:sym typeface="Lato"/>
                  </a:rPr>
                  <a:t>Baseline and recovery remains similar</a:t>
                </a:r>
                <a:endParaRPr sz="11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70" name="Google Shape;370;p39"/>
            <p:cNvGrpSpPr/>
            <p:nvPr/>
          </p:nvGrpSpPr>
          <p:grpSpPr>
            <a:xfrm>
              <a:off x="5772150" y="3190875"/>
              <a:ext cx="2381400" cy="952500"/>
              <a:chOff x="5772150" y="3190875"/>
              <a:chExt cx="2381400" cy="952500"/>
            </a:xfrm>
          </p:grpSpPr>
          <p:sp>
            <p:nvSpPr>
              <p:cNvPr id="371" name="Google Shape;371;p39"/>
              <p:cNvSpPr/>
              <p:nvPr/>
            </p:nvSpPr>
            <p:spPr>
              <a:xfrm>
                <a:off x="5772150" y="3190875"/>
                <a:ext cx="23814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F8FAFB"/>
              </a:solidFill>
              <a:ln cap="flat" cmpd="sng" w="9525">
                <a:solidFill>
                  <a:srgbClr val="E9EDE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39"/>
              <p:cNvSpPr txBox="1"/>
              <p:nvPr/>
            </p:nvSpPr>
            <p:spPr>
              <a:xfrm>
                <a:off x="5772150" y="3190875"/>
                <a:ext cx="23814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42875" lIns="142875" spcFirstLastPara="1" rIns="142875" wrap="square" tIns="1428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EB5600"/>
                    </a:solidFill>
                    <a:latin typeface="Lato"/>
                    <a:ea typeface="Lato"/>
                    <a:cs typeface="Lato"/>
                    <a:sym typeface="Lato"/>
                  </a:rPr>
                  <a:t>ROOT CAUSE</a:t>
                </a:r>
                <a:endParaRPr b="1" sz="1100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595959"/>
                    </a:solidFill>
                    <a:latin typeface="Lato"/>
                    <a:ea typeface="Lato"/>
                    <a:cs typeface="Lato"/>
                    <a:sym typeface="Lato"/>
                  </a:rPr>
                  <a:t>CPU contention impacts system performance</a:t>
                </a:r>
                <a:endParaRPr sz="11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373" name="Google Shape;373;p39"/>
          <p:cNvGrpSpPr/>
          <p:nvPr/>
        </p:nvGrpSpPr>
        <p:grpSpPr>
          <a:xfrm>
            <a:off x="723900" y="4381500"/>
            <a:ext cx="7696200" cy="333300"/>
            <a:chOff x="723900" y="4381500"/>
            <a:chExt cx="7696200" cy="333300"/>
          </a:xfrm>
        </p:grpSpPr>
        <p:sp>
          <p:nvSpPr>
            <p:cNvPr id="374" name="Google Shape;374;p39"/>
            <p:cNvSpPr/>
            <p:nvPr/>
          </p:nvSpPr>
          <p:spPr>
            <a:xfrm>
              <a:off x="723900" y="4381500"/>
              <a:ext cx="7696200" cy="333300"/>
            </a:xfrm>
            <a:prstGeom prst="roundRect">
              <a:avLst>
                <a:gd fmla="val 17142" name="adj"/>
              </a:avLst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9"/>
            <p:cNvSpPr txBox="1"/>
            <p:nvPr/>
          </p:nvSpPr>
          <p:spPr>
            <a:xfrm>
              <a:off x="723900" y="4381500"/>
              <a:ext cx="76962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Conclusion: CPU resource management is critical for maintaining multi-node stability.</a:t>
              </a:r>
              <a:endParaRPr b="1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vs Multi Comparison</a:t>
            </a:r>
            <a:endParaRPr/>
          </a:p>
        </p:txBody>
      </p:sp>
      <p:grpSp>
        <p:nvGrpSpPr>
          <p:cNvPr id="381" name="Google Shape;381;p40"/>
          <p:cNvGrpSpPr/>
          <p:nvPr/>
        </p:nvGrpSpPr>
        <p:grpSpPr>
          <a:xfrm>
            <a:off x="723900" y="2095500"/>
            <a:ext cx="7696350" cy="2952675"/>
            <a:chOff x="723900" y="2095500"/>
            <a:chExt cx="7696350" cy="2952675"/>
          </a:xfrm>
        </p:grpSpPr>
        <p:sp>
          <p:nvSpPr>
            <p:cNvPr id="382" name="Google Shape;382;p40"/>
            <p:cNvSpPr/>
            <p:nvPr/>
          </p:nvSpPr>
          <p:spPr>
            <a:xfrm>
              <a:off x="723900" y="2095500"/>
              <a:ext cx="3714900" cy="2476500"/>
            </a:xfrm>
            <a:prstGeom prst="roundRect">
              <a:avLst>
                <a:gd fmla="val 4615" name="adj"/>
              </a:avLst>
            </a:prstGeom>
            <a:solidFill>
              <a:srgbClr val="F8FAFB"/>
            </a:solidFill>
            <a:ln cap="flat" cmpd="sng" w="9525">
              <a:solidFill>
                <a:srgbClr val="E9E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40"/>
            <p:cNvSpPr/>
            <p:nvPr/>
          </p:nvSpPr>
          <p:spPr>
            <a:xfrm>
              <a:off x="723900" y="2095500"/>
              <a:ext cx="3714900" cy="381000"/>
            </a:xfrm>
            <a:prstGeom prst="roundRect">
              <a:avLst>
                <a:gd fmla="val 30000" name="adj"/>
              </a:avLst>
            </a:prstGeom>
            <a:solidFill>
              <a:srgbClr val="EB5600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40"/>
            <p:cNvSpPr txBox="1"/>
            <p:nvPr/>
          </p:nvSpPr>
          <p:spPr>
            <a:xfrm>
              <a:off x="723900" y="2095500"/>
              <a:ext cx="371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rPr>
                <a:t>Single Node Configuration</a:t>
              </a:r>
              <a:endParaRPr b="1" sz="14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385" name="Google Shape;385;p40"/>
            <p:cNvSpPr txBox="1"/>
            <p:nvPr/>
          </p:nvSpPr>
          <p:spPr>
            <a:xfrm>
              <a:off x="914400" y="2619375"/>
              <a:ext cx="3333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Contention Model</a:t>
              </a:r>
              <a:endParaRPr b="1" sz="12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Strong CPU contention occurs as all processes compete on the same physical node.</a:t>
              </a:r>
              <a:endParaRPr sz="12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Performance Impact</a:t>
              </a:r>
              <a:endParaRPr b="1" sz="12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Shows more severe performance degradation under high load conditions.</a:t>
              </a:r>
              <a:endParaRPr sz="12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6" name="Google Shape;386;p40"/>
            <p:cNvSpPr/>
            <p:nvPr/>
          </p:nvSpPr>
          <p:spPr>
            <a:xfrm>
              <a:off x="4705350" y="2095500"/>
              <a:ext cx="3714900" cy="2476500"/>
            </a:xfrm>
            <a:prstGeom prst="roundRect">
              <a:avLst>
                <a:gd fmla="val 4615" name="adj"/>
              </a:avLst>
            </a:prstGeom>
            <a:solidFill>
              <a:srgbClr val="F8FAFB"/>
            </a:solidFill>
            <a:ln cap="flat" cmpd="sng" w="9525">
              <a:solidFill>
                <a:srgbClr val="E9E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40"/>
            <p:cNvSpPr/>
            <p:nvPr/>
          </p:nvSpPr>
          <p:spPr>
            <a:xfrm>
              <a:off x="4705350" y="2095500"/>
              <a:ext cx="3714900" cy="381000"/>
            </a:xfrm>
            <a:prstGeom prst="roundRect">
              <a:avLst>
                <a:gd fmla="val 30000" name="adj"/>
              </a:avLst>
            </a:prstGeom>
            <a:solidFill>
              <a:srgbClr val="1A9988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40"/>
            <p:cNvSpPr txBox="1"/>
            <p:nvPr/>
          </p:nvSpPr>
          <p:spPr>
            <a:xfrm>
              <a:off x="4705350" y="2095500"/>
              <a:ext cx="371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rPr>
                <a:t>Multi-Node Configuration</a:t>
              </a:r>
              <a:endParaRPr b="1" sz="1400">
                <a:solidFill>
                  <a:srgbClr val="1A9988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389" name="Google Shape;389;p40"/>
            <p:cNvSpPr txBox="1"/>
            <p:nvPr/>
          </p:nvSpPr>
          <p:spPr>
            <a:xfrm>
              <a:off x="4895850" y="2619375"/>
              <a:ext cx="3333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Contention Model</a:t>
              </a:r>
              <a:endParaRPr b="1" sz="12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Partial isolation across nodes significantly reduces the impact of resource contention.</a:t>
              </a:r>
              <a:endParaRPr sz="12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Performance Impact</a:t>
              </a:r>
              <a:endParaRPr b="1" sz="12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Results in more stable performance and predictable latency profiles.</a:t>
              </a:r>
              <a:endParaRPr sz="12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0" name="Google Shape;390;p40"/>
            <p:cNvSpPr/>
            <p:nvPr/>
          </p:nvSpPr>
          <p:spPr>
            <a:xfrm>
              <a:off x="723900" y="4714875"/>
              <a:ext cx="7696200" cy="333300"/>
            </a:xfrm>
            <a:prstGeom prst="roundRect">
              <a:avLst>
                <a:gd fmla="val 17142" name="adj"/>
              </a:avLst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40"/>
            <p:cNvSpPr txBox="1"/>
            <p:nvPr/>
          </p:nvSpPr>
          <p:spPr>
            <a:xfrm>
              <a:off x="723900" y="4714875"/>
              <a:ext cx="76962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Key Takeaway: These results highlight the critical importance of node-level isolation for system stability.</a:t>
              </a:r>
              <a:endParaRPr b="1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7" name="Google Shape;397;p4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98" name="Google Shape;398;p4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4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0" name="Google Shape;400;p41"/>
          <p:cNvSpPr txBox="1"/>
          <p:nvPr>
            <p:ph type="title"/>
          </p:nvPr>
        </p:nvSpPr>
        <p:spPr>
          <a:xfrm>
            <a:off x="729450" y="1280400"/>
            <a:ext cx="7688700" cy="48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1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SLO Impact</a:t>
            </a:r>
            <a:endParaRPr b="1" sz="221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401" name="Google Shape;401;p41"/>
          <p:cNvGrpSpPr/>
          <p:nvPr/>
        </p:nvGrpSpPr>
        <p:grpSpPr>
          <a:xfrm>
            <a:off x="723900" y="1940470"/>
            <a:ext cx="3714900" cy="2250396"/>
            <a:chOff x="723900" y="1714500"/>
            <a:chExt cx="3714900" cy="2476500"/>
          </a:xfrm>
        </p:grpSpPr>
        <p:sp>
          <p:nvSpPr>
            <p:cNvPr id="402" name="Google Shape;402;p41"/>
            <p:cNvSpPr/>
            <p:nvPr/>
          </p:nvSpPr>
          <p:spPr>
            <a:xfrm>
              <a:off x="723900" y="1714500"/>
              <a:ext cx="3714900" cy="2476500"/>
            </a:xfrm>
            <a:prstGeom prst="roundRect">
              <a:avLst>
                <a:gd fmla="val 4615" name="adj"/>
              </a:avLst>
            </a:prstGeom>
            <a:solidFill>
              <a:srgbClr val="F8FAFB"/>
            </a:solidFill>
            <a:ln cap="flat" cmpd="sng" w="9525">
              <a:solidFill>
                <a:srgbClr val="E9E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41"/>
            <p:cNvSpPr/>
            <p:nvPr/>
          </p:nvSpPr>
          <p:spPr>
            <a:xfrm>
              <a:off x="723900" y="1714500"/>
              <a:ext cx="3714900" cy="428700"/>
            </a:xfrm>
            <a:prstGeom prst="roundRect">
              <a:avLst>
                <a:gd fmla="val 26666" name="adj"/>
              </a:avLst>
            </a:prstGeom>
            <a:solidFill>
              <a:srgbClr val="1A9988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41"/>
            <p:cNvSpPr txBox="1"/>
            <p:nvPr/>
          </p:nvSpPr>
          <p:spPr>
            <a:xfrm>
              <a:off x="723900" y="1714500"/>
              <a:ext cx="3714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rPr>
                <a:t>SLO Targets</a:t>
              </a:r>
              <a:endParaRPr b="1" sz="1400">
                <a:solidFill>
                  <a:srgbClr val="1A9988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05" name="Google Shape;405;p41"/>
            <p:cNvSpPr txBox="1"/>
            <p:nvPr/>
          </p:nvSpPr>
          <p:spPr>
            <a:xfrm>
              <a:off x="914400" y="2238375"/>
              <a:ext cx="33339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Service Level Observation</a:t>
              </a:r>
              <a:endParaRPr b="1" sz="11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A1A1A"/>
                </a:buClr>
                <a:buSzPts val="1100"/>
                <a:buFont typeface="Lato"/>
                <a:buChar char="●"/>
              </a:pPr>
              <a:r>
                <a:rPr b="1" lang="en" sz="1100">
                  <a:solidFill>
                    <a:srgbClr val="1A9988"/>
                  </a:solidFill>
                  <a:latin typeface="Lato"/>
                  <a:ea typeface="Lato"/>
                  <a:cs typeface="Lato"/>
                  <a:sym typeface="Lato"/>
                </a:rPr>
                <a:t>P50 ≤ 50 ms</a:t>
              </a:r>
              <a:endParaRPr sz="11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8450" lvl="0" marL="457200" rtl="0" algn="l">
                <a:spcBef>
                  <a:spcPts val="1125"/>
                </a:spcBef>
                <a:spcAft>
                  <a:spcPts val="1125"/>
                </a:spcAft>
                <a:buClr>
                  <a:srgbClr val="1A1A1A"/>
                </a:buClr>
                <a:buSzPts val="1100"/>
                <a:buFont typeface="Lato"/>
                <a:buChar char="●"/>
              </a:pPr>
              <a:r>
                <a:rPr b="1" lang="en" sz="1100">
                  <a:solidFill>
                    <a:srgbClr val="1A9988"/>
                  </a:solidFill>
                  <a:latin typeface="Lato"/>
                  <a:ea typeface="Lato"/>
                  <a:cs typeface="Lato"/>
                  <a:sym typeface="Lato"/>
                </a:rPr>
                <a:t>P99 ≤ 100 ms</a:t>
              </a:r>
              <a:endParaRPr sz="11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06" name="Google Shape;406;p41"/>
          <p:cNvGrpSpPr/>
          <p:nvPr/>
        </p:nvGrpSpPr>
        <p:grpSpPr>
          <a:xfrm>
            <a:off x="4705350" y="1940597"/>
            <a:ext cx="3714900" cy="2250396"/>
            <a:chOff x="4705350" y="1714500"/>
            <a:chExt cx="3714900" cy="2476500"/>
          </a:xfrm>
        </p:grpSpPr>
        <p:sp>
          <p:nvSpPr>
            <p:cNvPr id="407" name="Google Shape;407;p41"/>
            <p:cNvSpPr/>
            <p:nvPr/>
          </p:nvSpPr>
          <p:spPr>
            <a:xfrm>
              <a:off x="4705350" y="1714500"/>
              <a:ext cx="3714900" cy="2476500"/>
            </a:xfrm>
            <a:prstGeom prst="roundRect">
              <a:avLst>
                <a:gd fmla="val 4615" name="adj"/>
              </a:avLst>
            </a:prstGeom>
            <a:solidFill>
              <a:srgbClr val="F8FAFB"/>
            </a:solidFill>
            <a:ln cap="flat" cmpd="sng" w="9525">
              <a:solidFill>
                <a:srgbClr val="E9E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41"/>
            <p:cNvSpPr/>
            <p:nvPr/>
          </p:nvSpPr>
          <p:spPr>
            <a:xfrm>
              <a:off x="4705350" y="1714500"/>
              <a:ext cx="3714900" cy="428700"/>
            </a:xfrm>
            <a:prstGeom prst="roundRect">
              <a:avLst>
                <a:gd fmla="val 26666" name="adj"/>
              </a:avLst>
            </a:prstGeom>
            <a:solidFill>
              <a:srgbClr val="EB5600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41"/>
            <p:cNvSpPr txBox="1"/>
            <p:nvPr/>
          </p:nvSpPr>
          <p:spPr>
            <a:xfrm>
              <a:off x="4705350" y="1714500"/>
              <a:ext cx="3714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rPr>
                <a:t>Observations</a:t>
              </a:r>
              <a:endParaRPr b="1" sz="14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10" name="Google Shape;410;p41"/>
            <p:cNvSpPr txBox="1"/>
            <p:nvPr/>
          </p:nvSpPr>
          <p:spPr>
            <a:xfrm>
              <a:off x="4895850" y="2238375"/>
              <a:ext cx="33339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●</a:t>
              </a:r>
              <a:r>
                <a:rPr lang="en" sz="11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Violations at most load levels</a:t>
              </a:r>
              <a:endParaRPr sz="11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1125"/>
                </a:spcAft>
                <a:buNone/>
              </a:pPr>
              <a:r>
                <a:rPr lang="en" sz="1100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●</a:t>
              </a:r>
              <a:r>
                <a:rPr lang="en" sz="11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Especially severe under stress</a:t>
              </a:r>
              <a:endParaRPr sz="11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6" name="Google Shape;416;p4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7" name="Google Shape;417;p4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4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9" name="Google Shape;419;p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Between p99 Latency and Kernel Events</a:t>
            </a:r>
            <a:endParaRPr/>
          </a:p>
        </p:txBody>
      </p:sp>
      <p:grpSp>
        <p:nvGrpSpPr>
          <p:cNvPr id="420" name="Google Shape;420;p42"/>
          <p:cNvGrpSpPr/>
          <p:nvPr/>
        </p:nvGrpSpPr>
        <p:grpSpPr>
          <a:xfrm>
            <a:off x="723900" y="2047875"/>
            <a:ext cx="7696350" cy="2238300"/>
            <a:chOff x="723900" y="2047875"/>
            <a:chExt cx="7696350" cy="2238300"/>
          </a:xfrm>
        </p:grpSpPr>
        <p:sp>
          <p:nvSpPr>
            <p:cNvPr id="421" name="Google Shape;421;p42"/>
            <p:cNvSpPr/>
            <p:nvPr/>
          </p:nvSpPr>
          <p:spPr>
            <a:xfrm>
              <a:off x="723900" y="2047875"/>
              <a:ext cx="2457600" cy="2238300"/>
            </a:xfrm>
            <a:prstGeom prst="roundRect">
              <a:avLst>
                <a:gd fmla="val 5106" name="adj"/>
              </a:avLst>
            </a:prstGeom>
            <a:solidFill>
              <a:srgbClr val="F8FAFB"/>
            </a:solidFill>
            <a:ln cap="flat" cmpd="sng" w="9525">
              <a:solidFill>
                <a:srgbClr val="E9E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42"/>
            <p:cNvSpPr/>
            <p:nvPr/>
          </p:nvSpPr>
          <p:spPr>
            <a:xfrm>
              <a:off x="723900" y="2047875"/>
              <a:ext cx="2457600" cy="381000"/>
            </a:xfrm>
            <a:prstGeom prst="roundRect">
              <a:avLst>
                <a:gd fmla="val 30000" name="adj"/>
              </a:avLst>
            </a:prstGeom>
            <a:solidFill>
              <a:srgbClr val="1A9988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42"/>
            <p:cNvSpPr txBox="1"/>
            <p:nvPr/>
          </p:nvSpPr>
          <p:spPr>
            <a:xfrm>
              <a:off x="723900" y="2047875"/>
              <a:ext cx="2457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rPr>
                <a:t>Observation</a:t>
              </a:r>
              <a:endParaRPr b="1" sz="1400">
                <a:solidFill>
                  <a:srgbClr val="1A9988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24" name="Google Shape;424;p42"/>
            <p:cNvSpPr txBox="1"/>
            <p:nvPr/>
          </p:nvSpPr>
          <p:spPr>
            <a:xfrm>
              <a:off x="866775" y="2524125"/>
              <a:ext cx="21717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Spikes at 100 connections:</a:t>
              </a:r>
              <a:endParaRPr b="1" sz="11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595959"/>
                </a:buClr>
                <a:buSzPts val="1100"/>
                <a:buFont typeface="Lato"/>
                <a:buChar char="●"/>
              </a:pPr>
              <a:r>
                <a:rPr b="0" lang="en" sz="11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p99 latency (~607 ms)</a:t>
              </a:r>
              <a:endParaRPr b="0" sz="11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84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595959"/>
                </a:buClr>
                <a:buSzPts val="1100"/>
                <a:buFont typeface="Lato"/>
                <a:buChar char="●"/>
              </a:pPr>
              <a:r>
                <a:rPr b="0" lang="en" sz="11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CPU scheduling delay</a:t>
              </a:r>
              <a:endParaRPr b="0" sz="11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84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595959"/>
                </a:buClr>
                <a:buSzPts val="1100"/>
                <a:buFont typeface="Lato"/>
                <a:buChar char="●"/>
              </a:pPr>
              <a:r>
                <a:rPr b="0" lang="en" sz="11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TCP send latency</a:t>
              </a:r>
              <a:endParaRPr b="0" sz="11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8450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595959"/>
                </a:buClr>
                <a:buSzPts val="1100"/>
                <a:buFont typeface="Lato"/>
                <a:buChar char="●"/>
              </a:pPr>
              <a:r>
                <a:rPr b="0" lang="en" sz="11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Socket drops &amp; Redis RTT</a:t>
              </a:r>
              <a:endParaRPr b="0" sz="11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25" name="Google Shape;425;p42"/>
            <p:cNvSpPr/>
            <p:nvPr/>
          </p:nvSpPr>
          <p:spPr>
            <a:xfrm>
              <a:off x="3343275" y="2047875"/>
              <a:ext cx="2457600" cy="2238300"/>
            </a:xfrm>
            <a:prstGeom prst="roundRect">
              <a:avLst>
                <a:gd fmla="val 5106" name="adj"/>
              </a:avLst>
            </a:prstGeom>
            <a:solidFill>
              <a:srgbClr val="F8FAFB"/>
            </a:solidFill>
            <a:ln cap="flat" cmpd="sng" w="9525">
              <a:solidFill>
                <a:srgbClr val="E9E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42"/>
            <p:cNvSpPr/>
            <p:nvPr/>
          </p:nvSpPr>
          <p:spPr>
            <a:xfrm>
              <a:off x="3343275" y="2047875"/>
              <a:ext cx="2457600" cy="381000"/>
            </a:xfrm>
            <a:prstGeom prst="roundRect">
              <a:avLst>
                <a:gd fmla="val 30000" name="adj"/>
              </a:avLst>
            </a:prstGeom>
            <a:solidFill>
              <a:srgbClr val="EB5600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42"/>
            <p:cNvSpPr txBox="1"/>
            <p:nvPr/>
          </p:nvSpPr>
          <p:spPr>
            <a:xfrm>
              <a:off x="3343275" y="2047875"/>
              <a:ext cx="2457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rPr>
                <a:t>Insight</a:t>
              </a:r>
              <a:endParaRPr b="1" sz="14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28" name="Google Shape;428;p42"/>
            <p:cNvSpPr txBox="1"/>
            <p:nvPr/>
          </p:nvSpPr>
          <p:spPr>
            <a:xfrm>
              <a:off x="3486150" y="2524125"/>
              <a:ext cx="21717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Events co-occur at the same load and phase.</a:t>
              </a:r>
              <a:endParaRPr b="0" sz="11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Indicates multiple kernel-level bottlenecks across the stack.</a:t>
              </a:r>
              <a:endParaRPr b="0" sz="11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29" name="Google Shape;429;p42"/>
            <p:cNvSpPr/>
            <p:nvPr/>
          </p:nvSpPr>
          <p:spPr>
            <a:xfrm>
              <a:off x="5962650" y="2047875"/>
              <a:ext cx="2457600" cy="2238300"/>
            </a:xfrm>
            <a:prstGeom prst="roundRect">
              <a:avLst>
                <a:gd fmla="val 5106" name="adj"/>
              </a:avLst>
            </a:prstGeom>
            <a:solidFill>
              <a:srgbClr val="F8FAFB"/>
            </a:solidFill>
            <a:ln cap="flat" cmpd="sng" w="9525">
              <a:solidFill>
                <a:srgbClr val="E9E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42"/>
            <p:cNvSpPr/>
            <p:nvPr/>
          </p:nvSpPr>
          <p:spPr>
            <a:xfrm>
              <a:off x="5962650" y="2047875"/>
              <a:ext cx="2457600" cy="381000"/>
            </a:xfrm>
            <a:prstGeom prst="roundRect">
              <a:avLst>
                <a:gd fmla="val 30000" name="adj"/>
              </a:avLst>
            </a:prstGeom>
            <a:solidFill>
              <a:srgbClr val="1A1A1A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42"/>
            <p:cNvSpPr txBox="1"/>
            <p:nvPr/>
          </p:nvSpPr>
          <p:spPr>
            <a:xfrm>
              <a:off x="5962650" y="2047875"/>
              <a:ext cx="2457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Conclusion</a:t>
              </a:r>
              <a:endParaRPr b="1" sz="14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32" name="Google Shape;432;p42"/>
            <p:cNvSpPr txBox="1"/>
            <p:nvPr/>
          </p:nvSpPr>
          <p:spPr>
            <a:xfrm>
              <a:off x="6105525" y="2524125"/>
              <a:ext cx="21717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Tail latency (p99) is driven by a combination of CPU contention, network delays, and backend latency — not a single factor.</a:t>
              </a:r>
              <a:endParaRPr b="0" sz="11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433" name="Google Shape;433;p42"/>
          <p:cNvSpPr/>
          <p:nvPr/>
        </p:nvSpPr>
        <p:spPr>
          <a:xfrm>
            <a:off x="723900" y="4476750"/>
            <a:ext cx="7696200" cy="428700"/>
          </a:xfrm>
          <a:prstGeom prst="roundRect">
            <a:avLst>
              <a:gd fmla="val 13333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42"/>
          <p:cNvSpPr txBox="1"/>
          <p:nvPr/>
        </p:nvSpPr>
        <p:spPr>
          <a:xfrm>
            <a:off x="723900" y="4476750"/>
            <a:ext cx="76962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Key Finding: Latency is a multi-factor issue requiring holistic analysis.</a:t>
            </a:r>
            <a:endParaRPr b="1"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Mitigation Strategies</a:t>
            </a:r>
            <a:endParaRPr/>
          </a:p>
        </p:txBody>
      </p:sp>
      <p:sp>
        <p:nvSpPr>
          <p:cNvPr id="440" name="Google Shape;440;p4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</a:t>
            </a:r>
            <a:r>
              <a:rPr lang="en"/>
              <a:t>CPU Isolation (Reduces run-queue latency / CPU contention)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Pod Anti-Affinity (Prevents co-location of stress and application pods)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Priority Scheduling (Ensures critical pods survive under system pressure)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6" name="Google Shape;446;p4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47" name="Google Shape;447;p4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4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9" name="Google Shape;449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grpSp>
        <p:nvGrpSpPr>
          <p:cNvPr id="450" name="Google Shape;450;p44"/>
          <p:cNvGrpSpPr/>
          <p:nvPr/>
        </p:nvGrpSpPr>
        <p:grpSpPr>
          <a:xfrm>
            <a:off x="723900" y="2047875"/>
            <a:ext cx="7696350" cy="2428875"/>
            <a:chOff x="723900" y="2047875"/>
            <a:chExt cx="7696350" cy="2428875"/>
          </a:xfrm>
        </p:grpSpPr>
        <p:sp>
          <p:nvSpPr>
            <p:cNvPr id="451" name="Google Shape;451;p44"/>
            <p:cNvSpPr/>
            <p:nvPr/>
          </p:nvSpPr>
          <p:spPr>
            <a:xfrm>
              <a:off x="723900" y="2047875"/>
              <a:ext cx="3714900" cy="1143000"/>
            </a:xfrm>
            <a:prstGeom prst="roundRect">
              <a:avLst>
                <a:gd fmla="val 10000" name="adj"/>
              </a:avLst>
            </a:prstGeom>
            <a:solidFill>
              <a:srgbClr val="F8FAFB"/>
            </a:solidFill>
            <a:ln cap="flat" cmpd="sng" w="9525">
              <a:solidFill>
                <a:srgbClr val="E9E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44"/>
            <p:cNvSpPr/>
            <p:nvPr/>
          </p:nvSpPr>
          <p:spPr>
            <a:xfrm>
              <a:off x="723900" y="2047875"/>
              <a:ext cx="3714900" cy="333300"/>
            </a:xfrm>
            <a:prstGeom prst="roundRect">
              <a:avLst>
                <a:gd fmla="val 34285" name="adj"/>
              </a:avLst>
            </a:prstGeom>
            <a:solidFill>
              <a:srgbClr val="1A9988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44"/>
            <p:cNvSpPr txBox="1"/>
            <p:nvPr/>
          </p:nvSpPr>
          <p:spPr>
            <a:xfrm>
              <a:off x="723900" y="2047875"/>
              <a:ext cx="3714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rPr>
                <a:t>Observability Gap</a:t>
              </a:r>
              <a:endParaRPr b="1" sz="1200">
                <a:solidFill>
                  <a:srgbClr val="1A9988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54" name="Google Shape;454;p44"/>
            <p:cNvSpPr txBox="1"/>
            <p:nvPr/>
          </p:nvSpPr>
          <p:spPr>
            <a:xfrm>
              <a:off x="914400" y="2428875"/>
              <a:ext cx="3333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Kubernetes metrics are not enough. Standard monitoring fails to capture fine-grained system behavior.</a:t>
              </a:r>
              <a:endParaRPr b="0" sz="11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55" name="Google Shape;455;p44"/>
            <p:cNvSpPr/>
            <p:nvPr/>
          </p:nvSpPr>
          <p:spPr>
            <a:xfrm>
              <a:off x="4705350" y="2047875"/>
              <a:ext cx="3714900" cy="1143000"/>
            </a:xfrm>
            <a:prstGeom prst="roundRect">
              <a:avLst>
                <a:gd fmla="val 10000" name="adj"/>
              </a:avLst>
            </a:prstGeom>
            <a:solidFill>
              <a:srgbClr val="F8FAFB"/>
            </a:solidFill>
            <a:ln cap="flat" cmpd="sng" w="9525">
              <a:solidFill>
                <a:srgbClr val="E9E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44"/>
            <p:cNvSpPr/>
            <p:nvPr/>
          </p:nvSpPr>
          <p:spPr>
            <a:xfrm>
              <a:off x="4705350" y="2047875"/>
              <a:ext cx="3714900" cy="333300"/>
            </a:xfrm>
            <a:prstGeom prst="roundRect">
              <a:avLst>
                <a:gd fmla="val 34285" name="adj"/>
              </a:avLst>
            </a:prstGeom>
            <a:solidFill>
              <a:srgbClr val="EB5600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44"/>
            <p:cNvSpPr txBox="1"/>
            <p:nvPr/>
          </p:nvSpPr>
          <p:spPr>
            <a:xfrm>
              <a:off x="4705350" y="2047875"/>
              <a:ext cx="3714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rPr>
                <a:t>Latency Origins</a:t>
              </a:r>
              <a:endParaRPr b="1" sz="12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58" name="Google Shape;458;p44"/>
            <p:cNvSpPr txBox="1"/>
            <p:nvPr/>
          </p:nvSpPr>
          <p:spPr>
            <a:xfrm>
              <a:off x="4895850" y="2428875"/>
              <a:ext cx="3333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Tail latency comes from kernel behavior in our experiment.</a:t>
              </a:r>
              <a:endParaRPr b="0" sz="11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59" name="Google Shape;459;p44"/>
            <p:cNvSpPr/>
            <p:nvPr/>
          </p:nvSpPr>
          <p:spPr>
            <a:xfrm>
              <a:off x="723900" y="3333750"/>
              <a:ext cx="3714900" cy="1143000"/>
            </a:xfrm>
            <a:prstGeom prst="roundRect">
              <a:avLst>
                <a:gd fmla="val 10000" name="adj"/>
              </a:avLst>
            </a:prstGeom>
            <a:solidFill>
              <a:srgbClr val="F8FAFB"/>
            </a:solidFill>
            <a:ln cap="flat" cmpd="sng" w="9525">
              <a:solidFill>
                <a:srgbClr val="E9E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44"/>
            <p:cNvSpPr/>
            <p:nvPr/>
          </p:nvSpPr>
          <p:spPr>
            <a:xfrm>
              <a:off x="723900" y="3333750"/>
              <a:ext cx="3714900" cy="333300"/>
            </a:xfrm>
            <a:prstGeom prst="roundRect">
              <a:avLst>
                <a:gd fmla="val 34285" name="adj"/>
              </a:avLst>
            </a:prstGeom>
            <a:solidFill>
              <a:srgbClr val="EB5600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44"/>
            <p:cNvSpPr txBox="1"/>
            <p:nvPr/>
          </p:nvSpPr>
          <p:spPr>
            <a:xfrm>
              <a:off x="723900" y="3333750"/>
              <a:ext cx="3714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rPr>
                <a:t>Tooling Insight</a:t>
              </a:r>
              <a:endParaRPr b="1" sz="12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62" name="Google Shape;462;p44"/>
            <p:cNvSpPr txBox="1"/>
            <p:nvPr/>
          </p:nvSpPr>
          <p:spPr>
            <a:xfrm>
              <a:off x="914400" y="3714750"/>
              <a:ext cx="3333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eBPF reveals hidden root causes. It provides the necessary visibility into kernel interactions.</a:t>
              </a:r>
              <a:endParaRPr b="0" sz="11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63" name="Google Shape;463;p44"/>
            <p:cNvSpPr/>
            <p:nvPr/>
          </p:nvSpPr>
          <p:spPr>
            <a:xfrm>
              <a:off x="4705350" y="3333750"/>
              <a:ext cx="3714900" cy="1143000"/>
            </a:xfrm>
            <a:prstGeom prst="roundRect">
              <a:avLst>
                <a:gd fmla="val 10000" name="adj"/>
              </a:avLst>
            </a:prstGeom>
            <a:solidFill>
              <a:srgbClr val="F8FAFB"/>
            </a:solidFill>
            <a:ln cap="flat" cmpd="sng" w="9525">
              <a:solidFill>
                <a:srgbClr val="E9E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44"/>
            <p:cNvSpPr/>
            <p:nvPr/>
          </p:nvSpPr>
          <p:spPr>
            <a:xfrm>
              <a:off x="4705350" y="3333750"/>
              <a:ext cx="3714900" cy="333300"/>
            </a:xfrm>
            <a:prstGeom prst="roundRect">
              <a:avLst>
                <a:gd fmla="val 34285" name="adj"/>
              </a:avLst>
            </a:prstGeom>
            <a:solidFill>
              <a:srgbClr val="1A9988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44"/>
            <p:cNvSpPr txBox="1"/>
            <p:nvPr/>
          </p:nvSpPr>
          <p:spPr>
            <a:xfrm>
              <a:off x="4705350" y="3333750"/>
              <a:ext cx="3714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rPr>
                <a:t>Primary Bottleneck</a:t>
              </a:r>
              <a:endParaRPr b="1" sz="1200">
                <a:solidFill>
                  <a:srgbClr val="1A9988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66" name="Google Shape;466;p44"/>
            <p:cNvSpPr txBox="1"/>
            <p:nvPr/>
          </p:nvSpPr>
          <p:spPr>
            <a:xfrm>
              <a:off x="4895850" y="3714750"/>
              <a:ext cx="3333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CPU scheduling is a key bottleneck</a:t>
              </a:r>
              <a:r>
                <a:rPr lang="en" sz="11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 in our experiments</a:t>
              </a:r>
              <a:r>
                <a:rPr b="0" lang="en" sz="11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. Contention at the scheduler level is the most significant performance drag.</a:t>
              </a:r>
              <a:endParaRPr b="0" sz="11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467" name="Google Shape;467;p44"/>
          <p:cNvSpPr/>
          <p:nvPr/>
        </p:nvSpPr>
        <p:spPr>
          <a:xfrm>
            <a:off x="723900" y="4619625"/>
            <a:ext cx="7696200" cy="381000"/>
          </a:xfrm>
          <a:prstGeom prst="roundRect">
            <a:avLst>
              <a:gd fmla="val 15000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4"/>
          <p:cNvSpPr txBox="1"/>
          <p:nvPr/>
        </p:nvSpPr>
        <p:spPr>
          <a:xfrm>
            <a:off x="723900" y="4619625"/>
            <a:ext cx="7696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Thank You</a:t>
            </a:r>
            <a:endParaRPr b="1"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